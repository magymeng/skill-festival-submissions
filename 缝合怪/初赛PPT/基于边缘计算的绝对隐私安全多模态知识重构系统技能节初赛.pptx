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0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  <p:sldMasterId id="2147483662" r:id="rId4"/>
    <p:sldMasterId id="2147483664" r:id="rId5"/>
    <p:sldMasterId id="2147483666" r:id="rId6"/>
    <p:sldMasterId id="2147483668" r:id="rId7"/>
  </p:sldMasterIdLst>
  <p:notesMasterIdLst>
    <p:notesMasterId r:id="rId9"/>
  </p:notesMasterIdLst>
  <p:sldIdLst>
    <p:sldId id="257" r:id="rId8"/>
    <p:sldId id="274" r:id="rId10"/>
    <p:sldId id="256" r:id="rId11"/>
    <p:sldId id="273" r:id="rId12"/>
    <p:sldId id="272" r:id="rId13"/>
    <p:sldId id="271" r:id="rId14"/>
    <p:sldId id="260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13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13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15.xml"/><Relationship Id="rId22" Type="http://schemas.openxmlformats.org/officeDocument/2006/relationships/slide" Target="slides/slide14.xml"/><Relationship Id="rId21" Type="http://schemas.openxmlformats.org/officeDocument/2006/relationships/slide" Target="slides/slide13.xml"/><Relationship Id="rId20" Type="http://schemas.openxmlformats.org/officeDocument/2006/relationships/slide" Target="slides/slide12.xml"/><Relationship Id="rId2" Type="http://schemas.openxmlformats.org/officeDocument/2006/relationships/theme" Target="theme/theme1.xml"/><Relationship Id="rId19" Type="http://schemas.openxmlformats.org/officeDocument/2006/relationships/slide" Target="slides/slide11.xml"/><Relationship Id="rId18" Type="http://schemas.openxmlformats.org/officeDocument/2006/relationships/slide" Target="slides/slide10.xml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15" Type="http://schemas.openxmlformats.org/officeDocument/2006/relationships/slide" Target="slides/slide7.xml"/><Relationship Id="rId14" Type="http://schemas.openxmlformats.org/officeDocument/2006/relationships/slide" Target="slides/slide6.xml"/><Relationship Id="rId13" Type="http://schemas.openxmlformats.org/officeDocument/2006/relationships/slide" Target="slides/slide5.xml"/><Relationship Id="rId12" Type="http://schemas.openxmlformats.org/officeDocument/2006/relationships/slide" Target="slides/slide4.xml"/><Relationship Id="rId11" Type="http://schemas.openxmlformats.org/officeDocument/2006/relationships/slide" Target="slides/slide3.xml"/><Relationship Id="rId10" Type="http://schemas.openxmlformats.org/officeDocument/2006/relationships/slide" Target="slides/slide2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汇报将分为七个部分。首先，我们将深入剖析当前市场的核心痛点，即云端AI带来的隐私与安全困境。接着，我们会详细介绍我们的解决方案——本地私有AI系统。之后，我们将展示项目的核心亮点、与竞品的对比优势、技术架构以及已取得的成果。最后，我们将探讨其广阔的应用场景和巨大的商业价值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汇报将分为七个部分。首先，我们将深入剖析当前市场的核心痛点，即云端AI带来的隐私与安全困境。接着，我们会详细介绍我们的解决方案——本地私有AI系统。之后，我们将展示项目的核心亮点、与竞品的对比优势、技术架构以及已取得的成果。最后，我们将探讨其广阔的应用场景和巨大的商业价值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今天我们带来的项目是“基于边缘计算的绝对隐私安全多模态知识重构系统”。简单来说，我们打造了一套软硬一体的本地AI系统，它能将您的纸质文件、手写笔记、会议录音等所有资料，在完全不上传云端的情况下，自动整理成一个智能知识库。我们的核心承诺是：数据不出域，智能全在身边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今天我们带来的项目是“基于边缘计算的绝对隐私安全多模态知识重构系统”。简单来说，我们打造了一套软硬一体的本地AI系统，它能将您的纸质文件、手写笔记、会议录音等所有资料，在完全不上传云端的情况下，自动整理成一个智能知识库。我们的核心承诺是：数据不出域，智能全在身边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今天我们带来的项目是“基于边缘计算的绝对隐私安全多模态知识重构系统”。简单来说，我们打造了一套软硬一体的本地AI系统，它能将您的纸质文件、手写笔记、会议录音等所有资料，在完全不上传云端的情况下，自动整理成一个智能知识库。我们的核心承诺是：数据不出域，智能全在身边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今天我们带来的项目是“基于边缘计算的绝对隐私安全多模态知识重构系统”。简单来说，我们打造了一套软硬一体的本地AI系统，它能将您的纸质文件、手写笔记、会议录音等所有资料，在完全不上传云端的情况下，自动整理成一个智能知识库。我们的核心承诺是：数据不出域，智能全在身边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针对以上痛点，我们的解决方案非常直接：我们打造了一套软硬一体的本地私有AI系统。您可以将各种形式的资料，无论是纸质文件、手写笔记还是会议录音，都交给我们的系统。所有的数据处理，包括OCR识别、语音转写和AI归纳，全部在您自己的本地设备上完成，数据全程不出您的局域网。最终，为您生成一个安全、智能、可随时访问的私有知识库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张对比表非常直观。与主流的云端SaaS相比，我们解决了他们最致命的隐私和合规问题。与普通的本地笔记工具相比，我们提供了他们完全不具备的、原生的、强大的离线AI能力。我们不仅更安全，而且更智能、更易用、更符合商业逻辑。我们不是在做一个更好的笔记软件，而是在定义一个全新的、安全的知识管理范式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技术架构是实现上述所有优势的基石。在硬件层，我们选择了树莓派这样的边缘计算设备，兼顾了性能与成本。在模型层，我们通过模型量化技术，让强大的大语言模型能够在本地设备上流畅运行。算法层，我们整合了多种多模态处理技术，并通过RAG解决了大模型的“幻觉”问题。最后，在安全层，我们采用端到端加密和严格的内网访问控制，构建了坚实的安全防线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已经将想法付诸实践。目前，我们已经完成了完整的Web前端开发，用户可以通过直观的界面完成所有操作。更重要的是，我们已经成功验证了核心功能。我们的本地化OCR模型能够准确识别图片中的文字，文件合并逻辑也得到了验证，证明了知识重构的底层逻辑是完全可行的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硬件和工程化方面，我们同样取得了关键进展。我们已经成功在本地部署了AI模型，跑通了整个离线处理流程。同时，我们已经开始向树莓派等边缘硬件进行移植，并取得了成功。项目开发全程遵循规范的工程化管理，确保了代码的质量和未来的可扩展性。可以说，我们已经从一个纯粹的概念，变成了一个可以演示、可以触摸的现实产品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产品瞄准的是真正有痛点、有付费意愿的高价值行业。在律师事务所，它可以自动整理案卷，保护客户隐私。对于企业高管，它是管理会议纪要和商业机密的安全助手。在科研机构，它能安全地整理实验笔记。对于政府和保密单位，它提供了涉密资料处理的完美解决方案。这些场景共同的特点是：数据极其敏感，同时对效率有极高要求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我们来谈谈商业价值。我们所处的是一个刚刚兴起的、千亿级的蓝海市场。我们的产品同时解决了安全和效率两大刚需，这决定了用户有极强的付费意愿。我们的盈利模式清晰，通过硬件、软件和服务的组合，可以实现高客单价和高利润。更重要的是，我们构建的软硬一体化闭环，形成了极高的竞争壁垒，确保了我们在未来市场中的领先地位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对未来有清晰的规划。短期内，我们将专注于产品打磨，提升核心性能和用户体验。中期，我们将正式推向市场，并拓展更高级的功能。长期来看，我们的目标是成为隐私AI领域的领导者和行业标准的制定者，将我们的解决方案推广到全球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总结一下，我们的项目通过软硬一体的本地AI方案，解决了高端用户“不敢用AI”的核心痛点。我们相信，隐私优先、本地智能是未来的趋势。我们的产品将让高价值数据真正实现安全可控和高效增值。我的汇报到此结束，感谢大家的聆听！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</p:sldLayoutIdLst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5" r:id="rId1"/>
  </p:sldLayoutIdLst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7" r:id="rId1"/>
  </p:sldLayoutIdLst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9" r:id="rId1"/>
  </p:sldLayoutIdLst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6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6.jpeg"/><Relationship Id="rId1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4.svg"/><Relationship Id="rId8" Type="http://schemas.openxmlformats.org/officeDocument/2006/relationships/image" Target="../media/image13.png"/><Relationship Id="rId7" Type="http://schemas.openxmlformats.org/officeDocument/2006/relationships/image" Target="../media/image12.svg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1" Type="http://schemas.openxmlformats.org/officeDocument/2006/relationships/notesSlide" Target="../notesSlides/notesSlide12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4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20.svg"/><Relationship Id="rId6" Type="http://schemas.openxmlformats.org/officeDocument/2006/relationships/image" Target="../media/image19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image" Target="../media/image1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443865"/>
            <a:ext cx="12192000" cy="1320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ctr">
              <a:lnSpc>
                <a:spcPct val="92000"/>
              </a:lnSpc>
              <a:defRPr/>
            </a:pPr>
            <a:r>
              <a:rPr lang="en-US" sz="2800" b="1">
                <a:solidFill>
                  <a:srgbClr val="FFFFFF"/>
                </a:solidFill>
                <a:effectLst>
                  <a:outerShdw blurRad="63500" dist="38100" dir="2700000" algn="tl" rotWithShape="0">
                    <a:srgbClr val="000000">
                      <a:alpha val="80000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“创造者” AI 协同创新项目</a:t>
            </a:r>
            <a:endParaRPr lang="en-US" sz="2800" b="1" i="0" u="none" strike="noStrike">
              <a:solidFill>
                <a:srgbClr val="FFFFFF"/>
              </a:solidFill>
              <a:effectLst>
                <a:outerShdw blurRad="63500" dist="38100" dir="2700000" algn="tl" rotWithShape="0">
                  <a:srgbClr val="000000">
                    <a:alpha val="80000"/>
                  </a:srgb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Noto Sans SC" panose="020B0200000000000000" charset="-122"/>
            </a:endParaRPr>
          </a:p>
          <a:p>
            <a:pPr indent="0" algn="ctr">
              <a:lnSpc>
                <a:spcPct val="92000"/>
              </a:lnSpc>
              <a:defRPr/>
            </a:pPr>
            <a:endParaRPr lang="en-US" sz="2800"/>
          </a:p>
        </p:txBody>
      </p:sp>
      <p:sp>
        <p:nvSpPr>
          <p:cNvPr id="3" name="AutoShape 3"/>
          <p:cNvSpPr/>
          <p:nvPr/>
        </p:nvSpPr>
        <p:spPr>
          <a:xfrm>
            <a:off x="0" y="1524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ctr">
              <a:lnSpc>
                <a:spcPct val="100000"/>
              </a:lnSpc>
              <a:defRPr/>
            </a:pP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717675" y="2032000"/>
            <a:ext cx="9200515" cy="190944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127000" rIns="127000" bIns="1270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5400" b="1">
                <a:solidFill>
                  <a:srgbClr val="FFFFFF"/>
                </a:solidFill>
                <a:effectLst>
                  <a:outerShdw blurRad="50800" dist="25400" dir="2700000" algn="tl" rotWithShape="0">
                    <a:srgbClr val="000000">
                      <a:alpha val="80000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基于边缘计算的绝对隐私安全多模态知识重构系统</a:t>
            </a:r>
            <a:endParaRPr lang="en-US" sz="5400" b="1" i="0" u="none" strike="noStrike">
              <a:solidFill>
                <a:srgbClr val="FFFFFF"/>
              </a:solidFill>
              <a:effectLst>
                <a:outerShdw blurRad="50800" dist="25400" dir="2700000" algn="tl" rotWithShape="0">
                  <a:srgbClr val="000000">
                    <a:alpha val="80000"/>
                  </a:srgb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064000" y="4208780"/>
            <a:ext cx="406400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1600" i="1" spc="300">
                <a:solidFill>
                  <a:srgbClr val="FFFFFF">
                    <a:alpha val="80000"/>
                  </a:srgbClr>
                </a:solidFill>
                <a:effectLst>
                  <a:outerShdw blurRad="38100" dist="25400" dir="2700000" algn="tl" rotWithShape="0">
                    <a:srgbClr val="000000">
                      <a:alpha val="70000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THE PROJECT ARTIFACT</a:t>
            </a:r>
            <a:endParaRPr lang="en-US" b="0" i="1" u="none" strike="noStrike" spc="300">
              <a:solidFill>
                <a:srgbClr val="FFFFFF">
                  <a:alpha val="80000"/>
                </a:srgbClr>
              </a:solidFill>
              <a:effectLst>
                <a:outerShdw blurRad="38100" dist="25400" dir="2700000" algn="tl" rotWithShape="0">
                  <a:srgbClr val="000000">
                    <a:alpha val="70000"/>
                  </a:srgb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Noto Sans SC" panose="020B0200000000000000" charset="-122"/>
              <a:sym typeface="Noto Sans SC" panose="020B0200000000000000" charset="-122"/>
            </a:endParaRPr>
          </a:p>
          <a:p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4064000" y="5567680"/>
            <a:ext cx="40640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1600">
                <a:solidFill>
                  <a:srgbClr val="FFFFFF">
                    <a:alpha val="90196"/>
                  </a:srgbClr>
                </a:solidFill>
                <a:effectLst>
                  <a:outerShdw blurRad="38100" dist="25400" dir="2700000" algn="tl" rotWithShape="0">
                    <a:srgbClr val="000000">
                      <a:alpha val="80000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小组成员：林思好 | 郑</a:t>
            </a:r>
            <a:r>
              <a:rPr lang="zh-CN" altLang="en-US" sz="1600">
                <a:solidFill>
                  <a:srgbClr val="FFFFFF">
                    <a:alpha val="90196"/>
                  </a:srgbClr>
                </a:solidFill>
                <a:effectLst>
                  <a:outerShdw blurRad="38100" dist="25400" dir="2700000" algn="tl" rotWithShape="0">
                    <a:srgbClr val="000000">
                      <a:alpha val="80000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镰</a:t>
            </a:r>
            <a:r>
              <a:rPr lang="en-US" sz="1600">
                <a:solidFill>
                  <a:srgbClr val="FFFFFF">
                    <a:alpha val="90196"/>
                  </a:srgbClr>
                </a:solidFill>
                <a:effectLst>
                  <a:outerShdw blurRad="38100" dist="25400" dir="2700000" algn="tl" rotWithShape="0">
                    <a:srgbClr val="000000">
                      <a:alpha val="80000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Noto Sans SC" panose="020B0200000000000000" charset="-122"/>
              </a:rPr>
              <a:t>凯 | 陆智航</a:t>
            </a:r>
            <a:endParaRPr lang="zh-CN" altLang="en-US" sz="16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edge/>
      </p:transition>
    </mc:Choice>
    <mc:Fallback>
      <p:transition spd="slow">
        <p:wedg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圆角矩形 7"/>
          <p:cNvSpPr/>
          <p:nvPr/>
        </p:nvSpPr>
        <p:spPr>
          <a:xfrm>
            <a:off x="434975" y="2004060"/>
            <a:ext cx="5320665" cy="4493260"/>
          </a:xfrm>
          <a:prstGeom prst="roundRect">
            <a:avLst/>
          </a:prstGeom>
          <a:gradFill flip="none" rotWithShape="1">
            <a:gsLst>
              <a:gs pos="0">
                <a:schemeClr val="tx1">
                  <a:alpha val="0"/>
                </a:schemeClr>
              </a:gs>
              <a:gs pos="100000">
                <a:schemeClr val="tx1">
                  <a:alpha val="40000"/>
                </a:schemeClr>
              </a:gs>
            </a:gsLst>
            <a:lin ang="1200000" scaled="0"/>
          </a:gradFill>
          <a:ln w="19050">
            <a:gradFill>
              <a:gsLst>
                <a:gs pos="0">
                  <a:schemeClr val="accent1">
                    <a:lumMod val="8000"/>
                    <a:lumOff val="92000"/>
                  </a:schemeClr>
                </a:gs>
                <a:gs pos="74000">
                  <a:schemeClr val="tx2">
                    <a:lumMod val="90000"/>
                  </a:schemeClr>
                </a:gs>
                <a:gs pos="83000">
                  <a:schemeClr val="tx2">
                    <a:lumMod val="75000"/>
                  </a:schemeClr>
                </a:gs>
                <a:gs pos="100000">
                  <a:schemeClr val="tx2">
                    <a:lumMod val="50000"/>
                  </a:schemeClr>
                </a:gs>
              </a:gsLst>
              <a:lin ang="5400000" scaled="1"/>
            </a:gradFill>
            <a:round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AutoShape 2"/>
          <p:cNvSpPr/>
          <p:nvPr/>
        </p:nvSpPr>
        <p:spPr>
          <a:xfrm>
            <a:off x="-67310" y="254000"/>
            <a:ext cx="12192000" cy="1320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ctr">
              <a:lnSpc>
                <a:spcPct val="92000"/>
              </a:lnSpc>
              <a:defRPr/>
            </a:pPr>
            <a:r>
              <a:rPr lang="en-US" sz="6000" b="0" i="0" u="none" strike="noStrike">
                <a:solidFill>
                  <a:srgbClr val="FFFFFF"/>
                </a:solidFill>
                <a:latin typeface="Songti SC"/>
                <a:ea typeface="Songti SC"/>
                <a:cs typeface="Songti SC"/>
                <a:sym typeface="Songti SC"/>
              </a:rPr>
              <a:t>目录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0" y="1379855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2200" b="0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Table of Contents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628650" y="2750820"/>
            <a:ext cx="6130925" cy="324040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127000" rIns="127000" bIns="1270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800" b="1" i="0" u="none" strike="noStrike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Calibri" panose="020F0502020204030204"/>
              </a:rPr>
              <a:t>01.</a:t>
            </a:r>
            <a:r>
              <a:rPr lang="en-US" sz="2800" b="1" i="0" u="none" strike="noStrike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charset="-122"/>
              </a:rPr>
              <a:t>市场痛点：云端AI的困境</a:t>
            </a:r>
            <a:endParaRPr lang="en-US" sz="28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algn="l">
              <a:lnSpc>
                <a:spcPct val="100000"/>
              </a:lnSpc>
              <a:spcBef>
                <a:spcPts val="1200"/>
              </a:spcBef>
            </a:pPr>
            <a:r>
              <a:rPr lang="en-US" sz="2800" b="1" i="0" u="none" strike="noStrike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Calibri" panose="020F0502020204030204"/>
              </a:rPr>
              <a:t>02.</a:t>
            </a:r>
            <a:r>
              <a:rPr lang="en-US" sz="2800" b="1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charset="-122"/>
              </a:rPr>
              <a:t>核心亮点：降维打击的优势</a:t>
            </a:r>
            <a:endParaRPr lang="en-US" sz="2800" b="1" i="0" u="none" strike="noStrike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微软雅黑" panose="020B0503020204020204" charset="-122"/>
            </a:endParaRPr>
          </a:p>
          <a:p>
            <a:pPr indent="0" algn="l">
              <a:lnSpc>
                <a:spcPct val="100000"/>
              </a:lnSpc>
              <a:spcBef>
                <a:spcPts val="1200"/>
              </a:spcBef>
            </a:pPr>
            <a:r>
              <a:rPr lang="en-US" sz="2800" b="1" i="0" u="none" strike="noStrike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Calibri" panose="020F0502020204030204"/>
              </a:rPr>
              <a:t>03.</a:t>
            </a:r>
            <a:r>
              <a:rPr lang="en-US" sz="2800" b="1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charset="-122"/>
              </a:rPr>
              <a:t>解决方案：本地私有AI</a:t>
            </a:r>
            <a:endParaRPr lang="en-US" sz="2800" b="1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微软雅黑" panose="020B0503020204020204" charset="-122"/>
            </a:endParaRPr>
          </a:p>
          <a:p>
            <a:pPr indent="0" algn="l">
              <a:lnSpc>
                <a:spcPct val="100000"/>
              </a:lnSpc>
              <a:spcBef>
                <a:spcPts val="1200"/>
              </a:spcBef>
            </a:pPr>
            <a:r>
              <a:rPr lang="en-US" sz="2800" b="1" i="0" u="none" strike="noStrike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Calibri" panose="020F0502020204030204"/>
              </a:rPr>
              <a:t>04.</a:t>
            </a:r>
            <a:r>
              <a:rPr lang="en-US" sz="2800" b="1" i="0" u="none" strike="noStrike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charset="-122"/>
              </a:rPr>
              <a:t>竞品分析：我们为何更优</a:t>
            </a:r>
            <a:endParaRPr lang="en-US" sz="2800" b="1" i="0" u="none" strike="noStrike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微软雅黑" panose="020B0503020204020204" charset="-122"/>
            </a:endParaRPr>
          </a:p>
          <a:p>
            <a:pPr indent="0" algn="l">
              <a:lnSpc>
                <a:spcPct val="100000"/>
              </a:lnSpc>
              <a:spcBef>
                <a:spcPts val="1200"/>
              </a:spcBef>
            </a:pPr>
            <a:endParaRPr lang="en-US" sz="2800" b="1" i="0" u="none" strike="noStrike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485255" y="2875915"/>
            <a:ext cx="6196330" cy="33197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l">
              <a:lnSpc>
                <a:spcPct val="100000"/>
              </a:lnSpc>
              <a:spcBef>
                <a:spcPts val="1200"/>
              </a:spcBef>
            </a:pPr>
            <a:r>
              <a:rPr lang="en-US" sz="2800" b="1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Calibri" panose="020F0502020204030204"/>
              </a:rPr>
              <a:t>05.</a:t>
            </a:r>
            <a:r>
              <a:rPr lang="en-US" sz="2800" b="1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charset="-122"/>
              </a:rPr>
              <a:t>技术架构：安全与智能的基石</a:t>
            </a:r>
            <a:endParaRPr lang="en-US" sz="2800" b="1" i="0" u="none" strike="noStrike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微软雅黑" panose="020B0503020204020204" charset="-122"/>
            </a:endParaRPr>
          </a:p>
          <a:p>
            <a:pPr indent="0" algn="l">
              <a:lnSpc>
                <a:spcPct val="100000"/>
              </a:lnSpc>
              <a:spcBef>
                <a:spcPts val="1200"/>
              </a:spcBef>
            </a:pPr>
            <a:r>
              <a:rPr lang="en-US" sz="2800" b="1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Calibri" panose="020F0502020204030204"/>
              </a:rPr>
              <a:t>06.</a:t>
            </a:r>
            <a:r>
              <a:rPr lang="en-US" sz="2800" b="1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charset="-122"/>
              </a:rPr>
              <a:t>项目成果：从原型到现实</a:t>
            </a:r>
            <a:endParaRPr lang="en-US" sz="2800" b="1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微软雅黑" panose="020B0503020204020204" charset="-122"/>
            </a:endParaRPr>
          </a:p>
          <a:p>
            <a:pPr indent="0" algn="l">
              <a:lnSpc>
                <a:spcPct val="100000"/>
              </a:lnSpc>
              <a:spcBef>
                <a:spcPts val="1200"/>
              </a:spcBef>
            </a:pPr>
            <a:r>
              <a:rPr lang="en-US" sz="2800" b="1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Calibri" panose="020F0502020204030204"/>
              </a:rPr>
              <a:t>07.</a:t>
            </a:r>
            <a:r>
              <a:rPr lang="en-US" sz="2800" b="1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charset="-122"/>
              </a:rPr>
              <a:t>应用场景与商业价值</a:t>
            </a:r>
            <a:endParaRPr lang="en-US" sz="2800" b="1" i="0" u="none" strike="noStrike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微软雅黑" panose="020B0503020204020204" charset="-122"/>
            </a:endParaRPr>
          </a:p>
          <a:p>
            <a:pPr algn="ctr">
              <a:spcBef>
                <a:spcPts val="1200"/>
              </a:spcBef>
              <a:buSzTx/>
            </a:pPr>
            <a:endParaRPr lang="en-US" sz="2800" b="1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6306185" y="2004060"/>
            <a:ext cx="5599430" cy="4493260"/>
          </a:xfrm>
          <a:prstGeom prst="roundRect">
            <a:avLst/>
          </a:prstGeom>
          <a:gradFill flip="none" rotWithShape="1">
            <a:gsLst>
              <a:gs pos="0">
                <a:schemeClr val="tx1">
                  <a:alpha val="0"/>
                </a:schemeClr>
              </a:gs>
              <a:gs pos="100000">
                <a:schemeClr val="tx1">
                  <a:alpha val="40000"/>
                </a:schemeClr>
              </a:gs>
            </a:gsLst>
            <a:lin ang="1200000" scaled="0"/>
          </a:gradFill>
          <a:ln w="19050">
            <a:gradFill>
              <a:gsLst>
                <a:gs pos="0">
                  <a:schemeClr val="accent1">
                    <a:lumMod val="8000"/>
                    <a:lumOff val="92000"/>
                  </a:schemeClr>
                </a:gs>
                <a:gs pos="74000">
                  <a:schemeClr val="tx2">
                    <a:lumMod val="90000"/>
                  </a:schemeClr>
                </a:gs>
                <a:gs pos="83000">
                  <a:schemeClr val="tx2">
                    <a:lumMod val="75000"/>
                  </a:schemeClr>
                </a:gs>
                <a:gs pos="100000">
                  <a:schemeClr val="tx2">
                    <a:lumMod val="50000"/>
                  </a:schemeClr>
                </a:gs>
              </a:gsLst>
              <a:lin ang="5400000" scaled="1"/>
            </a:gradFill>
            <a:round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/>
      </p:transition>
    </mc:Choice>
    <mc:Fallback>
      <p:transition spd="slow">
        <p:blinds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0" y="0"/>
            <a:ext cx="12192000" cy="6853555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5400000" scaled="0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AutoShape 3"/>
          <p:cNvSpPr/>
          <p:nvPr/>
        </p:nvSpPr>
        <p:spPr>
          <a:xfrm>
            <a:off x="6096000" y="1755140"/>
            <a:ext cx="5857240" cy="444246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spcBef>
                <a:spcPts val="800"/>
              </a:spcBef>
              <a:buClr>
                <a:srgbClr val="FFFFFF"/>
              </a:buClr>
              <a:buNone/>
            </a:pPr>
            <a:r>
              <a:rPr lang="en-US" sz="1600" b="1">
                <a:solidFill>
                  <a:srgbClr val="FFC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charset="-122"/>
              </a:rPr>
              <a:t>·隐私泄露风险</a:t>
            </a:r>
            <a:r>
              <a:rPr lang="en-US" sz="1600" b="1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charset="-122"/>
              </a:rPr>
              <a:t>：</a:t>
            </a:r>
            <a:r>
              <a:rPr lang="en-US" sz="160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Songti SC"/>
              </a:rPr>
              <a:t>所有主流AI工具（如</a:t>
            </a:r>
            <a:r>
              <a:rPr lang="en-US" sz="160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Calibri" panose="020F0502020204030204"/>
              </a:rPr>
              <a:t>Notion AI, Otter.ai</a:t>
            </a:r>
            <a:r>
              <a:rPr lang="en-US" sz="160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Songti SC"/>
              </a:rPr>
              <a:t>）都强制要求将数据上传至公有云进行处理。这对于高敏感行业的用户来说，无异于将客户隐私、商业机密直接暴露在风险之下，成为黑客攻击和数据泄露的潜在目标。</a:t>
            </a:r>
            <a:endParaRPr lang="en-US" sz="1600" b="0" i="0" u="none" strike="noStrike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Songti SC"/>
            </a:endParaRPr>
          </a:p>
          <a:p>
            <a:pPr marL="0" indent="0" algn="l">
              <a:lnSpc>
                <a:spcPct val="108000"/>
              </a:lnSpc>
              <a:spcBef>
                <a:spcPts val="1600"/>
              </a:spcBef>
              <a:buClr>
                <a:srgbClr val="FFFFFF"/>
              </a:buClr>
              <a:buNone/>
            </a:pPr>
            <a:r>
              <a:rPr lang="en-US" sz="1600" b="1">
                <a:solidFill>
                  <a:srgbClr val="FFC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charset="-122"/>
              </a:rPr>
              <a:t>·合规性挑战</a:t>
            </a:r>
            <a:r>
              <a:rPr lang="en-US" sz="1600" b="1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charset="-122"/>
              </a:rPr>
              <a:t>：</a:t>
            </a:r>
            <a:r>
              <a:rPr lang="en-US" sz="160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Songti SC"/>
              </a:rPr>
              <a:t>在全球数据安全法规日益严格的背景下（如</a:t>
            </a:r>
            <a:r>
              <a:rPr lang="en-US" sz="160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Calibri" panose="020F0502020204030204"/>
              </a:rPr>
              <a:t>GDPR</a:t>
            </a:r>
            <a:r>
              <a:rPr lang="en-US" sz="160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Songti SC"/>
              </a:rPr>
              <a:t>、《数据安全法》），将企业或个人的敏感数据上传至第三方服务器，意味着企业可能面临巨额行政罚款和严重的法律诉讼，合规风险极高，严重威胁业务连续性。</a:t>
            </a:r>
            <a:endParaRPr lang="en-US" sz="1600" b="0" i="0" u="none" strike="noStrike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Songti SC"/>
            </a:endParaRPr>
          </a:p>
          <a:p>
            <a:pPr marL="0" indent="0" algn="l">
              <a:lnSpc>
                <a:spcPct val="108000"/>
              </a:lnSpc>
              <a:spcBef>
                <a:spcPts val="1600"/>
              </a:spcBef>
              <a:buClr>
                <a:srgbClr val="FFFFFF"/>
              </a:buClr>
              <a:buNone/>
            </a:pPr>
            <a:r>
              <a:rPr lang="en-US" sz="1600" b="1">
                <a:solidFill>
                  <a:srgbClr val="FFC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charset="-122"/>
              </a:rPr>
              <a:t>·信任危机</a:t>
            </a:r>
            <a:r>
              <a:rPr lang="en-US" sz="1600" b="1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charset="-122"/>
              </a:rPr>
              <a:t>：</a:t>
            </a:r>
            <a:r>
              <a:rPr lang="en-US" sz="160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Songti SC"/>
              </a:rPr>
              <a:t>用户被迫将数据主权完全交给工具厂商，只能被动“信任”其隐私保护承诺。一旦发生意外的数据泄露或滥用事件，用户往往面临取证困难、申诉无门的境地，最终承受难以估量的经济与声誉双重损失。</a:t>
            </a:r>
            <a:endParaRPr lang="en-US" sz="1600" b="1" i="0" u="none" strike="noStrike">
              <a:solidFill>
                <a:srgbClr val="FFFFFF"/>
              </a:solidFill>
              <a:effectLst>
                <a:outerShdw blurRad="50800" dist="25400" dir="2700000" algn="tl" rotWithShape="0">
                  <a:srgbClr val="000000">
                    <a:alpha val="80000"/>
                  </a:srgb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Noto Sans SC" panose="020B0200000000000000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7886065" y="6337300"/>
            <a:ext cx="5313045" cy="45847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1" u="none" strike="noStrike" spc="300">
                <a:solidFill>
                  <a:srgbClr val="FFFFFF">
                    <a:alpha val="80000"/>
                  </a:srgbClr>
                </a:solidFill>
                <a:effectLst>
                  <a:outerShdw blurRad="38100" dist="25400" dir="2700000" algn="tl" rotWithShape="0">
                    <a:srgbClr val="000000">
                      <a:alpha val="70000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THE PROJECT ARTIFACT</a:t>
            </a:r>
            <a:endParaRPr lang="en-US" sz="1600" b="0" i="1" u="none" strike="noStrike" spc="300">
              <a:solidFill>
                <a:srgbClr val="FFFFFF">
                  <a:alpha val="80000"/>
                </a:srgbClr>
              </a:solidFill>
              <a:effectLst>
                <a:outerShdw blurRad="38100" dist="25400" dir="2700000" algn="tl" rotWithShape="0">
                  <a:srgbClr val="000000">
                    <a:alpha val="70000"/>
                  </a:srgb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5178425" y="544830"/>
            <a:ext cx="7261225" cy="77533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市场痛点：云端AI已不安全、不合法</a:t>
            </a:r>
            <a:endParaRPr lang="en-US" sz="2800" b="1" i="0" u="none" strike="noStrike">
              <a:solidFill>
                <a:srgbClr val="FFFFFF"/>
              </a:solidFill>
              <a:effectLst>
                <a:outerShdw blurRad="63500" dist="38100" dir="2700000" algn="tl" rotWithShape="0">
                  <a:srgbClr val="000000">
                    <a:alpha val="80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grpSp>
        <p:nvGrpSpPr>
          <p:cNvPr id="42" name="组合 41"/>
          <p:cNvGrpSpPr/>
          <p:nvPr/>
        </p:nvGrpSpPr>
        <p:grpSpPr>
          <a:xfrm>
            <a:off x="-3253105" y="-1066165"/>
            <a:ext cx="9090660" cy="8990965"/>
            <a:chOff x="-5123" y="-1679"/>
            <a:chExt cx="14316" cy="14159"/>
          </a:xfrm>
        </p:grpSpPr>
        <p:sp useBgFill="1">
          <p:nvSpPr>
            <p:cNvPr id="12" name="流程图: 汇总连接 11"/>
            <p:cNvSpPr/>
            <p:nvPr/>
          </p:nvSpPr>
          <p:spPr>
            <a:xfrm>
              <a:off x="-5123" y="-1679"/>
              <a:ext cx="14316" cy="14159"/>
            </a:xfrm>
            <a:prstGeom prst="flowChartSummingJunction">
              <a:avLst/>
            </a:prstGeom>
            <a:ln>
              <a:solidFill>
                <a:schemeClr val="bg1"/>
              </a:solidFill>
            </a:ln>
            <a:effectLst>
              <a:outerShdw blurRad="254000" dist="1270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文本框 18"/>
            <p:cNvSpPr txBox="1"/>
            <p:nvPr/>
          </p:nvSpPr>
          <p:spPr>
            <a:xfrm rot="5400000">
              <a:off x="4165" y="4735"/>
              <a:ext cx="3640" cy="92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lang="en-US" altLang="zh-CN" sz="2800">
                  <a:solidFill>
                    <a:schemeClr val="bg1"/>
                  </a:solidFill>
                  <a:latin typeface="Arial Black" panose="020B0A04020102020204" charset="0"/>
                  <a:cs typeface="Arial Black" panose="020B0A04020102020204" charset="0"/>
                </a:rPr>
                <a:t>RART 02</a:t>
              </a:r>
              <a:endParaRPr lang="en-US" altLang="zh-CN" sz="28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endParaRPr>
            </a:p>
          </p:txBody>
        </p:sp>
        <p:grpSp>
          <p:nvGrpSpPr>
            <p:cNvPr id="41" name="组合 40"/>
            <p:cNvGrpSpPr/>
            <p:nvPr/>
          </p:nvGrpSpPr>
          <p:grpSpPr>
            <a:xfrm>
              <a:off x="-1937" y="1432"/>
              <a:ext cx="6705" cy="8073"/>
              <a:chOff x="-1937" y="1432"/>
              <a:chExt cx="6705" cy="8073"/>
            </a:xfrm>
          </p:grpSpPr>
          <p:sp>
            <p:nvSpPr>
              <p:cNvPr id="22" name="文本框 21"/>
              <p:cNvSpPr txBox="1"/>
              <p:nvPr/>
            </p:nvSpPr>
            <p:spPr>
              <a:xfrm rot="10800000">
                <a:off x="264" y="8600"/>
                <a:ext cx="4168" cy="905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pPr lvl="0" algn="ctr">
                  <a:buSzTx/>
                </a:pPr>
                <a:r>
                  <a:rPr lang="en-US" altLang="zh-CN" sz="2800">
                    <a:solidFill>
                      <a:schemeClr val="bg1"/>
                    </a:solidFill>
                    <a:latin typeface="Arial Black" panose="020B0A04020102020204" charset="0"/>
                    <a:cs typeface="Arial Black" panose="020B0A04020102020204" charset="0"/>
                    <a:sym typeface="+mn-ea"/>
                  </a:rPr>
                  <a:t>RART 0</a:t>
                </a:r>
                <a:r>
                  <a:rPr lang="en-US" altLang="zh-CN" sz="2800">
                    <a:solidFill>
                      <a:schemeClr val="bg1"/>
                    </a:solidFill>
                    <a:latin typeface="Arial Black" panose="020B0A04020102020204" charset="0"/>
                    <a:cs typeface="Arial Black" panose="020B0A04020102020204" charset="0"/>
                    <a:sym typeface="+mn-ea"/>
                  </a:rPr>
                  <a:t>3</a:t>
                </a:r>
                <a:endParaRPr lang="en-US" altLang="zh-CN" sz="2800">
                  <a:solidFill>
                    <a:schemeClr val="bg1"/>
                  </a:solidFill>
                  <a:latin typeface="Arial Black" panose="020B0A04020102020204" charset="0"/>
                  <a:cs typeface="Arial Black" panose="020B0A04020102020204" charset="0"/>
                  <a:sym typeface="+mn-ea"/>
                </a:endParaRPr>
              </a:p>
              <a:p>
                <a:pPr lvl="0" algn="ctr">
                  <a:buSzTx/>
                </a:pPr>
                <a:endParaRPr lang="en-US" altLang="zh-CN" sz="2800">
                  <a:solidFill>
                    <a:schemeClr val="bg1"/>
                  </a:solidFill>
                  <a:latin typeface="Arial Black" panose="020B0A04020102020204" charset="0"/>
                  <a:cs typeface="Arial Black" panose="020B0A04020102020204" charset="0"/>
                  <a:sym typeface="+mn-ea"/>
                </a:endParaRPr>
              </a:p>
            </p:txBody>
          </p:sp>
          <p:grpSp>
            <p:nvGrpSpPr>
              <p:cNvPr id="40" name="组合 39"/>
              <p:cNvGrpSpPr/>
              <p:nvPr/>
            </p:nvGrpSpPr>
            <p:grpSpPr>
              <a:xfrm>
                <a:off x="-1937" y="1432"/>
                <a:ext cx="6705" cy="7168"/>
                <a:chOff x="-1937" y="1432"/>
                <a:chExt cx="6705" cy="7168"/>
              </a:xfrm>
            </p:grpSpPr>
            <p:sp useBgFill="1">
              <p:nvSpPr>
                <p:cNvPr id="13" name="流程图: 联系 12"/>
                <p:cNvSpPr/>
                <p:nvPr/>
              </p:nvSpPr>
              <p:spPr>
                <a:xfrm>
                  <a:off x="-1009" y="2867"/>
                  <a:ext cx="5777" cy="5733"/>
                </a:xfrm>
                <a:prstGeom prst="flowChartConnector">
                  <a:avLst/>
                </a:prstGeom>
                <a:ln>
                  <a:noFill/>
                </a:ln>
                <a:effectLst>
                  <a:outerShdw blurRad="254000" dist="127000" algn="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grpSp>
              <p:nvGrpSpPr>
                <p:cNvPr id="39" name="组合 38"/>
                <p:cNvGrpSpPr/>
                <p:nvPr/>
              </p:nvGrpSpPr>
              <p:grpSpPr>
                <a:xfrm>
                  <a:off x="-1937" y="1432"/>
                  <a:ext cx="6105" cy="5587"/>
                  <a:chOff x="-1937" y="1432"/>
                  <a:chExt cx="6105" cy="5587"/>
                </a:xfrm>
              </p:grpSpPr>
              <p:sp>
                <p:nvSpPr>
                  <p:cNvPr id="16" name="文本框 15"/>
                  <p:cNvSpPr txBox="1"/>
                  <p:nvPr/>
                </p:nvSpPr>
                <p:spPr>
                  <a:xfrm>
                    <a:off x="528" y="1432"/>
                    <a:ext cx="3640" cy="92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noAutofit/>
                  </a:bodyPr>
                  <a:p>
                    <a:pPr algn="ctr"/>
                    <a:r>
                      <a:rPr lang="en-US" altLang="zh-CN" sz="2800">
                        <a:solidFill>
                          <a:schemeClr val="bg1"/>
                        </a:solidFill>
                        <a:latin typeface="Arial Black" panose="020B0A04020102020204" charset="0"/>
                        <a:cs typeface="Arial Black" panose="020B0A04020102020204" charset="0"/>
                      </a:rPr>
                      <a:t>RART 01</a:t>
                    </a:r>
                    <a:endParaRPr lang="en-US" altLang="zh-CN" sz="2800">
                      <a:solidFill>
                        <a:schemeClr val="bg1"/>
                      </a:solidFill>
                      <a:latin typeface="Arial Black" panose="020B0A04020102020204" charset="0"/>
                      <a:cs typeface="Arial Black" panose="020B0A04020102020204" charset="0"/>
                    </a:endParaRPr>
                  </a:p>
                </p:txBody>
              </p:sp>
              <p:sp>
                <p:nvSpPr>
                  <p:cNvPr id="24" name="文本框 23"/>
                  <p:cNvSpPr txBox="1"/>
                  <p:nvPr/>
                </p:nvSpPr>
                <p:spPr>
                  <a:xfrm rot="16200000">
                    <a:off x="-3293" y="4735"/>
                    <a:ext cx="3640" cy="92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noAutofit/>
                  </a:bodyPr>
                  <a:p>
                    <a:pPr algn="ctr"/>
                    <a:r>
                      <a:rPr lang="en-US" altLang="zh-CN" sz="2800">
                        <a:solidFill>
                          <a:schemeClr val="bg1"/>
                        </a:solidFill>
                        <a:latin typeface="Arial Black" panose="020B0A04020102020204" charset="0"/>
                        <a:cs typeface="Arial Black" panose="020B0A04020102020204" charset="0"/>
                      </a:rPr>
                      <a:t>RART 04</a:t>
                    </a:r>
                    <a:endParaRPr lang="en-US" altLang="zh-CN" sz="2800">
                      <a:solidFill>
                        <a:schemeClr val="bg1"/>
                      </a:solidFill>
                      <a:latin typeface="Arial Black" panose="020B0A04020102020204" charset="0"/>
                      <a:cs typeface="Arial Black" panose="020B0A04020102020204" charset="0"/>
                    </a:endParaRPr>
                  </a:p>
                </p:txBody>
              </p:sp>
            </p:grpSp>
          </p:grpSp>
        </p:grpSp>
      </p:grpSp>
      <p:sp>
        <p:nvSpPr>
          <p:cNvPr id="43" name="文本框 42"/>
          <p:cNvSpPr txBox="1"/>
          <p:nvPr/>
        </p:nvSpPr>
        <p:spPr>
          <a:xfrm>
            <a:off x="5925820" y="1282700"/>
            <a:ext cx="5765800" cy="5378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en-US" sz="1200" b="1">
                <a:solidFill>
                  <a:srgbClr val="FFFFFF"/>
                </a:solidFill>
                <a:latin typeface="Arial Black" panose="020B0A04020102020204" charset="0"/>
                <a:ea typeface="微软雅黑" panose="020B0503020204020204" charset="-122"/>
                <a:cs typeface="Arial Black" panose="020B0A04020102020204" charset="0"/>
                <a:sym typeface="微软雅黑" panose="020B0503020204020204" charset="-122"/>
              </a:rPr>
              <a:t>核心论点：云端处理 = 数据裸奔，泄密追责难，合规踩红线</a:t>
            </a:r>
            <a:endParaRPr lang="en-US" sz="1200"/>
          </a:p>
          <a:p>
            <a:pPr algn="l"/>
            <a:endParaRPr lang="zh-CN" altLang="en-US" sz="12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0" y="0"/>
            <a:ext cx="12192000" cy="6853555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5400000" scaled="0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AutoShape 3"/>
          <p:cNvSpPr/>
          <p:nvPr/>
        </p:nvSpPr>
        <p:spPr>
          <a:xfrm>
            <a:off x="6118860" y="1228725"/>
            <a:ext cx="4636135" cy="43942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304800" indent="-304800" algn="ctr">
              <a:lnSpc>
                <a:spcPct val="108000"/>
              </a:lnSpc>
              <a:spcBef>
                <a:spcPts val="1000"/>
              </a:spcBef>
              <a:buClr>
                <a:srgbClr val="FFFFFF"/>
              </a:buClr>
              <a:buChar char="•"/>
              <a:defRPr/>
            </a:pPr>
            <a:r>
              <a:rPr lang="en-US" sz="1200" b="1">
                <a:solidFill>
                  <a:srgbClr val="FFFFFF"/>
                </a:solidFill>
                <a:latin typeface="Arial Black" panose="020B0A04020102020204" charset="0"/>
                <a:ea typeface="微软雅黑" panose="020B0503020204020204" charset="-122"/>
                <a:cs typeface="Arial Black" panose="020B0A04020102020204" charset="0"/>
                <a:sym typeface="微软雅黑" panose="020B0503020204020204" charset="-122"/>
              </a:rPr>
              <a:t>核心论点：既要AI智能，又要绝对隐私，市场无解</a:t>
            </a:r>
            <a:endParaRPr lang="en-US" sz="1200" b="1" i="0" u="none" strike="noStrike">
              <a:solidFill>
                <a:srgbClr val="FFFFFF"/>
              </a:solidFill>
              <a:effectLst>
                <a:outerShdw blurRad="50800" dist="25400" dir="2700000" algn="tl" rotWithShape="0">
                  <a:srgbClr val="000000">
                    <a:alpha val="80000"/>
                  </a:srgbClr>
                </a:outerShdw>
              </a:effectLst>
              <a:latin typeface="Arial Black" panose="020B0A04020102020204" charset="0"/>
              <a:ea typeface="微软雅黑" panose="020B0503020204020204" charset="-122"/>
              <a:cs typeface="Arial Black" panose="020B0A04020102020204" charset="0"/>
              <a:sym typeface="微软雅黑" panose="020B0503020204020204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7873365" y="6337300"/>
            <a:ext cx="5313045" cy="45847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1" u="none" strike="noStrike" spc="300">
                <a:solidFill>
                  <a:srgbClr val="FFFFFF">
                    <a:alpha val="80000"/>
                  </a:srgbClr>
                </a:solidFill>
                <a:effectLst>
                  <a:outerShdw blurRad="38100" dist="25400" dir="2700000" algn="tl" rotWithShape="0">
                    <a:srgbClr val="000000">
                      <a:alpha val="70000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THE PROJECT ARTIFACT</a:t>
            </a:r>
            <a:endParaRPr lang="en-US" sz="1600" b="0" i="1" u="none" strike="noStrike" spc="300">
              <a:solidFill>
                <a:srgbClr val="FFFFFF">
                  <a:alpha val="80000"/>
                </a:srgbClr>
              </a:solidFill>
              <a:effectLst>
                <a:outerShdw blurRad="38100" dist="25400" dir="2700000" algn="tl" rotWithShape="0">
                  <a:srgbClr val="000000">
                    <a:alpha val="70000"/>
                  </a:srgb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4977765" y="600075"/>
            <a:ext cx="7261225" cy="77533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92000"/>
              </a:lnSpc>
              <a:defRPr/>
            </a:pPr>
            <a:r>
              <a:rPr lang="en-US" sz="2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市场痛点：高端行业的刚需与无奈</a:t>
            </a:r>
            <a:endParaRPr lang="en-US" sz="2800" b="1" i="0" u="none" strike="noStrike">
              <a:solidFill>
                <a:srgbClr val="FFFFFF"/>
              </a:solidFill>
              <a:effectLst>
                <a:outerShdw blurRad="63500" dist="38100" dir="2700000" algn="tl" rotWithShape="0">
                  <a:srgbClr val="000000">
                    <a:alpha val="80000"/>
                  </a:srgb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5837555" y="5461000"/>
            <a:ext cx="6401435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endParaRPr lang="en-US" sz="1600" b="0" i="0" u="none" strike="noStrike">
              <a:solidFill>
                <a:srgbClr val="FFFFFF">
                  <a:alpha val="90196"/>
                </a:srgbClr>
              </a:solidFill>
              <a:effectLst>
                <a:outerShdw blurRad="38100" dist="25400" dir="2700000" algn="tl" rotWithShape="0">
                  <a:srgbClr val="000000">
                    <a:alpha val="80000"/>
                  </a:srgb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Noto Sans SC" panose="020B0200000000000000" charset="-122"/>
            </a:endParaRPr>
          </a:p>
        </p:txBody>
      </p:sp>
      <p:grpSp>
        <p:nvGrpSpPr>
          <p:cNvPr id="42" name="组合 41"/>
          <p:cNvGrpSpPr/>
          <p:nvPr/>
        </p:nvGrpSpPr>
        <p:grpSpPr>
          <a:xfrm rot="16200000">
            <a:off x="-3252787" y="-1066482"/>
            <a:ext cx="9090660" cy="8990965"/>
            <a:chOff x="-5123" y="-1679"/>
            <a:chExt cx="14316" cy="14159"/>
          </a:xfrm>
        </p:grpSpPr>
        <p:sp useBgFill="1">
          <p:nvSpPr>
            <p:cNvPr id="12" name="流程图: 汇总连接 11"/>
            <p:cNvSpPr/>
            <p:nvPr/>
          </p:nvSpPr>
          <p:spPr>
            <a:xfrm>
              <a:off x="-5123" y="-1679"/>
              <a:ext cx="14316" cy="14159"/>
            </a:xfrm>
            <a:prstGeom prst="flowChartSummingJunction">
              <a:avLst/>
            </a:prstGeom>
            <a:ln>
              <a:solidFill>
                <a:schemeClr val="bg1"/>
              </a:solidFill>
            </a:ln>
            <a:effectLst>
              <a:outerShdw blurRad="254000" dist="1270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文本框 18"/>
            <p:cNvSpPr txBox="1"/>
            <p:nvPr/>
          </p:nvSpPr>
          <p:spPr>
            <a:xfrm rot="5400000">
              <a:off x="3666" y="5270"/>
              <a:ext cx="3640" cy="92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lang="en-US" altLang="zh-CN" sz="2800">
                  <a:solidFill>
                    <a:schemeClr val="bg1"/>
                  </a:solidFill>
                  <a:latin typeface="Arial Black" panose="020B0A04020102020204" charset="0"/>
                  <a:cs typeface="Arial Black" panose="020B0A04020102020204" charset="0"/>
                </a:rPr>
                <a:t>RART 02</a:t>
              </a:r>
              <a:endParaRPr lang="en-US" altLang="zh-CN" sz="28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endParaRPr>
            </a:p>
          </p:txBody>
        </p:sp>
        <p:grpSp>
          <p:nvGrpSpPr>
            <p:cNvPr id="41" name="组合 40"/>
            <p:cNvGrpSpPr/>
            <p:nvPr/>
          </p:nvGrpSpPr>
          <p:grpSpPr>
            <a:xfrm>
              <a:off x="-2092" y="1432"/>
              <a:ext cx="6838" cy="8073"/>
              <a:chOff x="-2092" y="1432"/>
              <a:chExt cx="6838" cy="8073"/>
            </a:xfrm>
          </p:grpSpPr>
          <p:sp>
            <p:nvSpPr>
              <p:cNvPr id="22" name="文本框 21"/>
              <p:cNvSpPr txBox="1"/>
              <p:nvPr/>
            </p:nvSpPr>
            <p:spPr>
              <a:xfrm rot="10800000">
                <a:off x="264" y="8600"/>
                <a:ext cx="4168" cy="905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pPr lvl="0" algn="ctr">
                  <a:buSzTx/>
                </a:pPr>
                <a:r>
                  <a:rPr lang="en-US" altLang="zh-CN" sz="2800">
                    <a:solidFill>
                      <a:schemeClr val="bg1"/>
                    </a:solidFill>
                    <a:latin typeface="Arial Black" panose="020B0A04020102020204" charset="0"/>
                    <a:cs typeface="Arial Black" panose="020B0A04020102020204" charset="0"/>
                    <a:sym typeface="+mn-ea"/>
                  </a:rPr>
                  <a:t>RART 0</a:t>
                </a:r>
                <a:r>
                  <a:rPr lang="en-US" altLang="zh-CN" sz="2800">
                    <a:solidFill>
                      <a:schemeClr val="bg1"/>
                    </a:solidFill>
                    <a:latin typeface="Arial Black" panose="020B0A04020102020204" charset="0"/>
                    <a:cs typeface="Arial Black" panose="020B0A04020102020204" charset="0"/>
                    <a:sym typeface="+mn-ea"/>
                  </a:rPr>
                  <a:t>3</a:t>
                </a:r>
                <a:endParaRPr lang="en-US" altLang="zh-CN" sz="2800">
                  <a:solidFill>
                    <a:schemeClr val="bg1"/>
                  </a:solidFill>
                  <a:latin typeface="Arial Black" panose="020B0A04020102020204" charset="0"/>
                  <a:cs typeface="Arial Black" panose="020B0A04020102020204" charset="0"/>
                  <a:sym typeface="+mn-ea"/>
                </a:endParaRPr>
              </a:p>
              <a:p>
                <a:pPr lvl="0" algn="ctr">
                  <a:buSzTx/>
                </a:pPr>
                <a:endParaRPr lang="en-US" altLang="zh-CN" sz="2800">
                  <a:solidFill>
                    <a:schemeClr val="bg1"/>
                  </a:solidFill>
                  <a:latin typeface="Arial Black" panose="020B0A04020102020204" charset="0"/>
                  <a:cs typeface="Arial Black" panose="020B0A04020102020204" charset="0"/>
                  <a:sym typeface="+mn-ea"/>
                </a:endParaRPr>
              </a:p>
            </p:txBody>
          </p:sp>
          <p:grpSp>
            <p:nvGrpSpPr>
              <p:cNvPr id="40" name="组合 39"/>
              <p:cNvGrpSpPr/>
              <p:nvPr/>
            </p:nvGrpSpPr>
            <p:grpSpPr>
              <a:xfrm>
                <a:off x="-2092" y="1432"/>
                <a:ext cx="6838" cy="7190"/>
                <a:chOff x="-2092" y="1432"/>
                <a:chExt cx="6838" cy="7190"/>
              </a:xfrm>
            </p:grpSpPr>
            <p:sp useBgFill="1">
              <p:nvSpPr>
                <p:cNvPr id="13" name="流程图: 联系 12"/>
                <p:cNvSpPr/>
                <p:nvPr/>
              </p:nvSpPr>
              <p:spPr>
                <a:xfrm rot="2700000">
                  <a:off x="-1009" y="2867"/>
                  <a:ext cx="5777" cy="5733"/>
                </a:xfrm>
                <a:prstGeom prst="flowChartConnector">
                  <a:avLst/>
                </a:prstGeom>
                <a:ln>
                  <a:noFill/>
                </a:ln>
                <a:effectLst>
                  <a:outerShdw blurRad="254000" dist="127000" algn="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grpSp>
              <p:nvGrpSpPr>
                <p:cNvPr id="39" name="组合 38"/>
                <p:cNvGrpSpPr/>
                <p:nvPr/>
              </p:nvGrpSpPr>
              <p:grpSpPr>
                <a:xfrm>
                  <a:off x="-2092" y="1432"/>
                  <a:ext cx="6260" cy="6122"/>
                  <a:chOff x="-2092" y="1432"/>
                  <a:chExt cx="6260" cy="6122"/>
                </a:xfrm>
              </p:grpSpPr>
              <p:sp>
                <p:nvSpPr>
                  <p:cNvPr id="16" name="文本框 15"/>
                  <p:cNvSpPr txBox="1"/>
                  <p:nvPr/>
                </p:nvSpPr>
                <p:spPr>
                  <a:xfrm>
                    <a:off x="528" y="1432"/>
                    <a:ext cx="3640" cy="92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noAutofit/>
                  </a:bodyPr>
                  <a:p>
                    <a:pPr algn="ctr"/>
                    <a:r>
                      <a:rPr lang="en-US" altLang="zh-CN" sz="2800">
                        <a:solidFill>
                          <a:schemeClr val="bg1"/>
                        </a:solidFill>
                        <a:latin typeface="Arial Black" panose="020B0A04020102020204" charset="0"/>
                        <a:cs typeface="Arial Black" panose="020B0A04020102020204" charset="0"/>
                      </a:rPr>
                      <a:t>RART 01</a:t>
                    </a:r>
                    <a:endParaRPr lang="en-US" altLang="zh-CN" sz="2800">
                      <a:solidFill>
                        <a:schemeClr val="bg1"/>
                      </a:solidFill>
                      <a:latin typeface="Arial Black" panose="020B0A04020102020204" charset="0"/>
                      <a:cs typeface="Arial Black" panose="020B0A04020102020204" charset="0"/>
                    </a:endParaRPr>
                  </a:p>
                </p:txBody>
              </p:sp>
              <p:sp>
                <p:nvSpPr>
                  <p:cNvPr id="24" name="文本框 23"/>
                  <p:cNvSpPr txBox="1"/>
                  <p:nvPr/>
                </p:nvSpPr>
                <p:spPr>
                  <a:xfrm rot="16200000">
                    <a:off x="-3448" y="5270"/>
                    <a:ext cx="3640" cy="92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noAutofit/>
                  </a:bodyPr>
                  <a:p>
                    <a:pPr algn="ctr"/>
                    <a:r>
                      <a:rPr lang="en-US" altLang="zh-CN" sz="2800">
                        <a:solidFill>
                          <a:schemeClr val="bg1"/>
                        </a:solidFill>
                        <a:latin typeface="Arial Black" panose="020B0A04020102020204" charset="0"/>
                        <a:cs typeface="Arial Black" panose="020B0A04020102020204" charset="0"/>
                      </a:rPr>
                      <a:t>RART 04</a:t>
                    </a:r>
                    <a:endParaRPr lang="en-US" altLang="zh-CN" sz="2800">
                      <a:solidFill>
                        <a:schemeClr val="bg1"/>
                      </a:solidFill>
                      <a:latin typeface="Arial Black" panose="020B0A04020102020204" charset="0"/>
                      <a:cs typeface="Arial Black" panose="020B0A04020102020204" charset="0"/>
                    </a:endParaRPr>
                  </a:p>
                </p:txBody>
              </p:sp>
            </p:grpSp>
          </p:grpSp>
        </p:grpSp>
      </p:grpSp>
      <p:sp>
        <p:nvSpPr>
          <p:cNvPr id="2" name="文本框 1"/>
          <p:cNvSpPr txBox="1"/>
          <p:nvPr/>
        </p:nvSpPr>
        <p:spPr>
          <a:xfrm>
            <a:off x="6210935" y="1960880"/>
            <a:ext cx="5276215" cy="41509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54000" indent="-254000" algn="l">
              <a:lnSpc>
                <a:spcPct val="108000"/>
              </a:lnSpc>
              <a:spcBef>
                <a:spcPts val="1000"/>
              </a:spcBef>
              <a:buClr>
                <a:srgbClr val="FFD700"/>
              </a:buClr>
              <a:buChar char="•"/>
            </a:pPr>
            <a:r>
              <a:rPr lang="en-US" sz="1600" b="1">
                <a:solidFill>
                  <a:srgbClr val="FFD7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charset="-122"/>
              </a:rPr>
              <a:t>效率瓶颈：</a:t>
            </a:r>
            <a:r>
              <a:rPr lang="en-US" sz="160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Songti SC"/>
              </a:rPr>
              <a:t>律师、高管、科研人员每天需处理大量非结构化数据，如纸质案卷、手写批注、白板会议记录等。人工整理耗时费力，效率极低，且容易出错，严重影响核心业务推进。</a:t>
            </a:r>
            <a:endParaRPr lang="en-US" sz="1600" b="0" i="0" u="none" strike="noStrike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Songti SC"/>
            </a:endParaRPr>
          </a:p>
          <a:p>
            <a:pPr marL="254000" indent="-254000" algn="l">
              <a:lnSpc>
                <a:spcPct val="108000"/>
              </a:lnSpc>
              <a:spcBef>
                <a:spcPts val="1500"/>
              </a:spcBef>
              <a:buClr>
                <a:srgbClr val="FFD700"/>
              </a:buClr>
              <a:buChar char="•"/>
            </a:pPr>
            <a:r>
              <a:rPr lang="en-US" sz="1600" b="1">
                <a:solidFill>
                  <a:srgbClr val="FFD7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charset="-122"/>
              </a:rPr>
              <a:t>需求矛盾：</a:t>
            </a:r>
            <a:r>
              <a:rPr lang="en-US" sz="160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Songti SC"/>
              </a:rPr>
              <a:t>他们迫切需要利用AI的强大能力来提升效率，但对数据安全的零容忍态度，让他们对所有需要上传数据的云端AI工具望而却步，陷入“想提效又不敢用”的两难境地。</a:t>
            </a:r>
            <a:endParaRPr lang="en-US" sz="1600" b="0" i="0" u="none" strike="noStrike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Songti SC"/>
            </a:endParaRPr>
          </a:p>
          <a:p>
            <a:pPr marL="254000" indent="-254000" algn="l">
              <a:lnSpc>
                <a:spcPct val="108000"/>
              </a:lnSpc>
              <a:spcBef>
                <a:spcPts val="1500"/>
              </a:spcBef>
              <a:buClr>
                <a:srgbClr val="FFD700"/>
              </a:buClr>
              <a:buChar char="•"/>
            </a:pPr>
            <a:r>
              <a:rPr lang="en-US" sz="1600" b="1">
                <a:solidFill>
                  <a:srgbClr val="FFD7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charset="-122"/>
              </a:rPr>
              <a:t>市场空白：</a:t>
            </a:r>
            <a:r>
              <a:rPr lang="en-US" sz="160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Songti SC"/>
              </a:rPr>
              <a:t>这是一个典型的“有钱但买不到合适工具”的蓝海市场。高端用户拥有高付费能力，愿意为真正安全、高效的解决方案支付高溢价，但目前市场上几乎没有能同时满足“AI智能”与“绝对隐私”这两个核心需求的产品。</a:t>
            </a:r>
            <a:endParaRPr lang="en-US" sz="1600" b="0" i="0" u="none" strike="noStrike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Songti SC"/>
            </a:endParaRPr>
          </a:p>
          <a:p>
            <a:endParaRPr lang="zh-CN" altLang="en-US" sz="16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0" y="0"/>
            <a:ext cx="12192000" cy="6853555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5400000" scaled="0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AutoShape 3"/>
          <p:cNvSpPr/>
          <p:nvPr/>
        </p:nvSpPr>
        <p:spPr>
          <a:xfrm>
            <a:off x="6580505" y="1713865"/>
            <a:ext cx="4924425" cy="433578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spcBef>
                <a:spcPts val="1500"/>
              </a:spcBef>
              <a:defRPr/>
            </a:pPr>
            <a:r>
              <a:rPr lang="en-US" sz="1600" b="1">
                <a:solidFill>
                  <a:srgbClr val="FFD7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charset="-122"/>
              </a:rPr>
              <a:t>▌ 架构级隐私</a:t>
            </a:r>
            <a:endParaRPr lang="en-US" sz="16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algn="l">
              <a:lnSpc>
                <a:spcPct val="117000"/>
              </a:lnSpc>
              <a:spcBef>
                <a:spcPts val="500"/>
              </a:spcBef>
            </a:pPr>
            <a:r>
              <a:rPr lang="en-US" sz="1600">
                <a:solidFill>
                  <a:srgbClr val="EBEBEB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Songti SC"/>
              </a:rPr>
              <a:t>物理断网，数据不出设备，从源头杜绝泄露可能，实现真正的绝对安全。</a:t>
            </a:r>
            <a:endParaRPr lang="en-US" sz="1600" b="0" i="0" u="none" strike="noStrike">
              <a:solidFill>
                <a:srgbClr val="EBEBEB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Songti SC"/>
            </a:endParaRPr>
          </a:p>
          <a:p>
            <a:pPr indent="0" algn="l">
              <a:lnSpc>
                <a:spcPct val="117000"/>
              </a:lnSpc>
              <a:spcBef>
                <a:spcPts val="2500"/>
              </a:spcBef>
            </a:pPr>
            <a:r>
              <a:rPr lang="en-US" sz="1600" b="1">
                <a:solidFill>
                  <a:srgbClr val="FFD7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charset="-122"/>
              </a:rPr>
              <a:t>▌ 全离线智能</a:t>
            </a:r>
            <a:endParaRPr lang="en-US" sz="1600" b="1" i="0" u="none" strike="noStrike">
              <a:solidFill>
                <a:srgbClr val="FFD7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微软雅黑" panose="020B0503020204020204" charset="-122"/>
            </a:endParaRPr>
          </a:p>
          <a:p>
            <a:pPr indent="0" algn="l">
              <a:lnSpc>
                <a:spcPct val="117000"/>
              </a:lnSpc>
              <a:spcBef>
                <a:spcPts val="500"/>
              </a:spcBef>
            </a:pPr>
            <a:r>
              <a:rPr lang="en-US" sz="1600">
                <a:solidFill>
                  <a:srgbClr val="EBEBEB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Songti SC"/>
              </a:rPr>
              <a:t>无需互联网连接，OCR、手写识别、语音转写等所有AI功能均可离线使用，保障业务连续性。</a:t>
            </a:r>
            <a:endParaRPr lang="en-US" sz="1600" b="0" i="0" u="none" strike="noStrike">
              <a:solidFill>
                <a:srgbClr val="EBEBEB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Songti SC"/>
            </a:endParaRPr>
          </a:p>
          <a:p>
            <a:pPr indent="0" algn="l">
              <a:lnSpc>
                <a:spcPct val="117000"/>
              </a:lnSpc>
              <a:spcBef>
                <a:spcPts val="2500"/>
              </a:spcBef>
            </a:pPr>
            <a:r>
              <a:rPr lang="en-US" sz="1600" b="1">
                <a:solidFill>
                  <a:srgbClr val="FFD7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charset="-122"/>
              </a:rPr>
              <a:t>▌ 多模态一体化</a:t>
            </a:r>
            <a:endParaRPr lang="en-US" sz="1600" b="1" i="0" u="none" strike="noStrike">
              <a:solidFill>
                <a:srgbClr val="FFD7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微软雅黑" panose="020B0503020204020204" charset="-122"/>
            </a:endParaRPr>
          </a:p>
          <a:p>
            <a:pPr indent="0" algn="l">
              <a:lnSpc>
                <a:spcPct val="117000"/>
              </a:lnSpc>
              <a:spcBef>
                <a:spcPts val="500"/>
              </a:spcBef>
            </a:pPr>
            <a:r>
              <a:rPr lang="en-US" sz="1600">
                <a:solidFill>
                  <a:srgbClr val="EBEBEB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Songti SC"/>
              </a:rPr>
              <a:t>原生整合多种数据类型，自动识别、智能归纳、一键成档，彻底解放生产力。</a:t>
            </a:r>
            <a:endParaRPr lang="en-US" sz="1600" b="1" i="0" u="none" strike="noStrike">
              <a:solidFill>
                <a:srgbClr val="FFFFFF"/>
              </a:solidFill>
              <a:effectLst>
                <a:outerShdw blurRad="50800" dist="25400" dir="2700000" algn="tl" rotWithShape="0">
                  <a:srgbClr val="000000">
                    <a:alpha val="80000"/>
                  </a:srgb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5924550" y="751205"/>
            <a:ext cx="5857875" cy="106934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2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核心亮点：从“云端SaaS”到“本地私有部署”的降维打击</a:t>
            </a:r>
            <a:endParaRPr lang="en-US" sz="2800" b="1" i="0" u="none" strike="noStrike">
              <a:solidFill>
                <a:srgbClr val="FFFFFF"/>
              </a:solidFill>
              <a:effectLst>
                <a:outerShdw blurRad="63500" dist="38100" dir="2700000" algn="tl" rotWithShape="0">
                  <a:srgbClr val="000000">
                    <a:alpha val="80000"/>
                  </a:srgb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Noto Sans SC" panose="020B0200000000000000" charset="-122"/>
            </a:endParaRPr>
          </a:p>
        </p:txBody>
      </p:sp>
      <p:grpSp>
        <p:nvGrpSpPr>
          <p:cNvPr id="42" name="组合 41"/>
          <p:cNvGrpSpPr/>
          <p:nvPr/>
        </p:nvGrpSpPr>
        <p:grpSpPr>
          <a:xfrm rot="10800000">
            <a:off x="-3253105" y="-1066800"/>
            <a:ext cx="9090660" cy="8990965"/>
            <a:chOff x="-5123" y="-1679"/>
            <a:chExt cx="14316" cy="14159"/>
          </a:xfrm>
        </p:grpSpPr>
        <p:sp useBgFill="1">
          <p:nvSpPr>
            <p:cNvPr id="12" name="流程图: 汇总连接 11"/>
            <p:cNvSpPr/>
            <p:nvPr/>
          </p:nvSpPr>
          <p:spPr>
            <a:xfrm>
              <a:off x="-5123" y="-1679"/>
              <a:ext cx="14316" cy="14159"/>
            </a:xfrm>
            <a:prstGeom prst="flowChartSummingJunction">
              <a:avLst/>
            </a:prstGeom>
            <a:ln>
              <a:solidFill>
                <a:schemeClr val="bg1"/>
              </a:solidFill>
            </a:ln>
            <a:effectLst>
              <a:outerShdw blurRad="254000" dist="1270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文本框 18"/>
            <p:cNvSpPr txBox="1"/>
            <p:nvPr/>
          </p:nvSpPr>
          <p:spPr>
            <a:xfrm rot="5400000">
              <a:off x="3659" y="5138"/>
              <a:ext cx="3640" cy="92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lang="en-US" altLang="zh-CN" sz="2800">
                  <a:solidFill>
                    <a:schemeClr val="bg1"/>
                  </a:solidFill>
                  <a:latin typeface="Arial Black" panose="020B0A04020102020204" charset="0"/>
                  <a:cs typeface="Arial Black" panose="020B0A04020102020204" charset="0"/>
                </a:rPr>
                <a:t>RART 02</a:t>
              </a:r>
              <a:endParaRPr lang="en-US" altLang="zh-CN" sz="28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endParaRPr>
            </a:p>
          </p:txBody>
        </p:sp>
        <p:grpSp>
          <p:nvGrpSpPr>
            <p:cNvPr id="41" name="组合 40"/>
            <p:cNvGrpSpPr/>
            <p:nvPr/>
          </p:nvGrpSpPr>
          <p:grpSpPr>
            <a:xfrm>
              <a:off x="-2185" y="1273"/>
              <a:ext cx="7086" cy="7955"/>
              <a:chOff x="-2185" y="1273"/>
              <a:chExt cx="7086" cy="7955"/>
            </a:xfrm>
          </p:grpSpPr>
          <p:sp>
            <p:nvSpPr>
              <p:cNvPr id="22" name="文本框 21"/>
              <p:cNvSpPr txBox="1"/>
              <p:nvPr/>
            </p:nvSpPr>
            <p:spPr>
              <a:xfrm rot="10800000">
                <a:off x="-401" y="8323"/>
                <a:ext cx="4168" cy="905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pPr lvl="0" algn="ctr">
                  <a:buSzTx/>
                </a:pPr>
                <a:r>
                  <a:rPr lang="en-US" altLang="zh-CN" sz="2800">
                    <a:solidFill>
                      <a:schemeClr val="bg1"/>
                    </a:solidFill>
                    <a:latin typeface="Arial Black" panose="020B0A04020102020204" charset="0"/>
                    <a:cs typeface="Arial Black" panose="020B0A04020102020204" charset="0"/>
                    <a:sym typeface="+mn-ea"/>
                  </a:rPr>
                  <a:t>RART 0</a:t>
                </a:r>
                <a:r>
                  <a:rPr lang="en-US" altLang="zh-CN" sz="2800">
                    <a:solidFill>
                      <a:schemeClr val="bg1"/>
                    </a:solidFill>
                    <a:latin typeface="Arial Black" panose="020B0A04020102020204" charset="0"/>
                    <a:cs typeface="Arial Black" panose="020B0A04020102020204" charset="0"/>
                    <a:sym typeface="+mn-ea"/>
                  </a:rPr>
                  <a:t>3</a:t>
                </a:r>
                <a:endParaRPr lang="en-US" altLang="zh-CN" sz="2800">
                  <a:solidFill>
                    <a:schemeClr val="bg1"/>
                  </a:solidFill>
                  <a:latin typeface="Arial Black" panose="020B0A04020102020204" charset="0"/>
                  <a:cs typeface="Arial Black" panose="020B0A04020102020204" charset="0"/>
                  <a:sym typeface="+mn-ea"/>
                </a:endParaRPr>
              </a:p>
              <a:p>
                <a:pPr lvl="0" algn="ctr">
                  <a:buSzTx/>
                </a:pPr>
                <a:endParaRPr lang="en-US" altLang="zh-CN" sz="2800">
                  <a:solidFill>
                    <a:schemeClr val="bg1"/>
                  </a:solidFill>
                  <a:latin typeface="Arial Black" panose="020B0A04020102020204" charset="0"/>
                  <a:cs typeface="Arial Black" panose="020B0A04020102020204" charset="0"/>
                  <a:sym typeface="+mn-ea"/>
                </a:endParaRPr>
              </a:p>
            </p:txBody>
          </p:sp>
          <p:grpSp>
            <p:nvGrpSpPr>
              <p:cNvPr id="40" name="组合 39"/>
              <p:cNvGrpSpPr/>
              <p:nvPr/>
            </p:nvGrpSpPr>
            <p:grpSpPr>
              <a:xfrm>
                <a:off x="-2185" y="1273"/>
                <a:ext cx="7086" cy="6953"/>
                <a:chOff x="-2185" y="1273"/>
                <a:chExt cx="7086" cy="6953"/>
              </a:xfrm>
            </p:grpSpPr>
            <p:sp useBgFill="1">
              <p:nvSpPr>
                <p:cNvPr id="13" name="流程图: 联系 12"/>
                <p:cNvSpPr/>
                <p:nvPr/>
              </p:nvSpPr>
              <p:spPr>
                <a:xfrm rot="2880000">
                  <a:off x="-854" y="2471"/>
                  <a:ext cx="5777" cy="5733"/>
                </a:xfrm>
                <a:prstGeom prst="flowChartConnector">
                  <a:avLst/>
                </a:prstGeom>
                <a:ln>
                  <a:noFill/>
                </a:ln>
                <a:effectLst>
                  <a:outerShdw blurRad="254000" dist="127000" algn="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grpSp>
              <p:nvGrpSpPr>
                <p:cNvPr id="39" name="组合 38"/>
                <p:cNvGrpSpPr/>
                <p:nvPr/>
              </p:nvGrpSpPr>
              <p:grpSpPr>
                <a:xfrm>
                  <a:off x="-2185" y="1273"/>
                  <a:ext cx="5688" cy="6149"/>
                  <a:chOff x="-2185" y="1273"/>
                  <a:chExt cx="5688" cy="6149"/>
                </a:xfrm>
              </p:grpSpPr>
              <p:sp>
                <p:nvSpPr>
                  <p:cNvPr id="16" name="文本框 15"/>
                  <p:cNvSpPr txBox="1"/>
                  <p:nvPr/>
                </p:nvSpPr>
                <p:spPr>
                  <a:xfrm>
                    <a:off x="-137" y="1273"/>
                    <a:ext cx="3640" cy="92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noAutofit/>
                  </a:bodyPr>
                  <a:p>
                    <a:pPr algn="ctr"/>
                    <a:r>
                      <a:rPr lang="en-US" altLang="zh-CN" sz="2800">
                        <a:solidFill>
                          <a:schemeClr val="bg1"/>
                        </a:solidFill>
                        <a:latin typeface="Arial Black" panose="020B0A04020102020204" charset="0"/>
                        <a:cs typeface="Arial Black" panose="020B0A04020102020204" charset="0"/>
                      </a:rPr>
                      <a:t>RART 01</a:t>
                    </a:r>
                    <a:endParaRPr lang="en-US" altLang="zh-CN" sz="2800">
                      <a:solidFill>
                        <a:schemeClr val="bg1"/>
                      </a:solidFill>
                      <a:latin typeface="Arial Black" panose="020B0A04020102020204" charset="0"/>
                      <a:cs typeface="Arial Black" panose="020B0A04020102020204" charset="0"/>
                    </a:endParaRPr>
                  </a:p>
                </p:txBody>
              </p:sp>
              <p:sp>
                <p:nvSpPr>
                  <p:cNvPr id="24" name="文本框 23"/>
                  <p:cNvSpPr txBox="1"/>
                  <p:nvPr/>
                </p:nvSpPr>
                <p:spPr>
                  <a:xfrm rot="16200000">
                    <a:off x="-3541" y="5138"/>
                    <a:ext cx="3640" cy="92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noAutofit/>
                  </a:bodyPr>
                  <a:p>
                    <a:pPr algn="ctr"/>
                    <a:r>
                      <a:rPr lang="en-US" altLang="zh-CN" sz="2800">
                        <a:solidFill>
                          <a:schemeClr val="bg1"/>
                        </a:solidFill>
                        <a:latin typeface="Arial Black" panose="020B0A04020102020204" charset="0"/>
                        <a:cs typeface="Arial Black" panose="020B0A04020102020204" charset="0"/>
                      </a:rPr>
                      <a:t>RART 04</a:t>
                    </a:r>
                    <a:endParaRPr lang="en-US" altLang="zh-CN" sz="2800">
                      <a:solidFill>
                        <a:schemeClr val="bg1"/>
                      </a:solidFill>
                      <a:latin typeface="Arial Black" panose="020B0A04020102020204" charset="0"/>
                      <a:cs typeface="Arial Black" panose="020B0A04020102020204" charset="0"/>
                    </a:endParaRPr>
                  </a:p>
                </p:txBody>
              </p:sp>
            </p:grpSp>
          </p:grpSp>
        </p:grpSp>
      </p:grpSp>
      <p:sp>
        <p:nvSpPr>
          <p:cNvPr id="4" name="AutoShape 5"/>
          <p:cNvSpPr/>
          <p:nvPr/>
        </p:nvSpPr>
        <p:spPr>
          <a:xfrm>
            <a:off x="7886065" y="6337300"/>
            <a:ext cx="5313045" cy="45847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indent="0" algn="ctr">
              <a:lnSpc>
                <a:spcPct val="125000"/>
              </a:lnSpc>
              <a:defRPr/>
            </a:pPr>
            <a:r>
              <a:rPr lang="en-US" sz="1600" b="0" i="1" u="none" strike="noStrike" spc="300">
                <a:solidFill>
                  <a:srgbClr val="FFFFFF">
                    <a:alpha val="80000"/>
                  </a:srgbClr>
                </a:solidFill>
                <a:effectLst>
                  <a:outerShdw blurRad="38100" dist="25400" dir="2700000" algn="tl" rotWithShape="0">
                    <a:srgbClr val="000000">
                      <a:alpha val="70000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THE PROJECT ARTIFACT</a:t>
            </a:r>
            <a:endParaRPr lang="en-US" sz="1600" b="0" i="1" u="none" strike="noStrike" spc="300">
              <a:solidFill>
                <a:srgbClr val="FFFFFF">
                  <a:alpha val="80000"/>
                </a:srgbClr>
              </a:solidFill>
              <a:effectLst>
                <a:outerShdw blurRad="38100" dist="25400" dir="2700000" algn="tl" rotWithShape="0">
                  <a:srgbClr val="000000">
                    <a:alpha val="70000"/>
                  </a:srgb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0" y="-57785"/>
            <a:ext cx="12192000" cy="6853555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5400000" scaled="0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AutoShape 3"/>
          <p:cNvSpPr/>
          <p:nvPr/>
        </p:nvSpPr>
        <p:spPr>
          <a:xfrm>
            <a:off x="6303010" y="1681480"/>
            <a:ext cx="5078095" cy="433578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spcAft>
                <a:spcPts val="1500"/>
              </a:spcAft>
              <a:defRPr/>
            </a:pPr>
            <a:r>
              <a:rPr lang="en-US" sz="1600" b="1">
                <a:solidFill>
                  <a:srgbClr val="FBBF2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charset="-122"/>
              </a:rPr>
              <a:t>软硬深度融合</a:t>
            </a:r>
            <a:endParaRPr lang="en-US" sz="16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algn="l">
              <a:lnSpc>
                <a:spcPct val="100000"/>
              </a:lnSpc>
              <a:spcAft>
                <a:spcPts val="1500"/>
              </a:spcAft>
              <a:defRPr/>
            </a:pPr>
            <a:r>
              <a:rPr lang="en-US" sz="1600">
                <a:solidFill>
                  <a:srgbClr val="EFF6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Songti SC"/>
              </a:rPr>
              <a:t>提供硬件盒子与软件系统一体化方案，开箱即用，无需复杂配置，大幅降低企业的技术部署与使用门槛，实现系统快速落地。</a:t>
            </a:r>
            <a:endParaRPr lang="en-US" sz="1600">
              <a:solidFill>
                <a:srgbClr val="EFF6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Songti SC"/>
            </a:endParaRPr>
          </a:p>
          <a:p>
            <a:pPr indent="0" algn="l">
              <a:lnSpc>
                <a:spcPct val="100000"/>
              </a:lnSpc>
              <a:spcAft>
                <a:spcPts val="1500"/>
              </a:spcAft>
              <a:defRPr/>
            </a:pPr>
            <a:r>
              <a:rPr lang="en-US" sz="1600" b="1">
                <a:solidFill>
                  <a:srgbClr val="FBBF2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charset="-122"/>
              </a:rPr>
              <a:t>合规天然满足</a:t>
            </a:r>
            <a:endParaRPr lang="en-US" sz="16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algn="l">
              <a:lnSpc>
                <a:spcPct val="100000"/>
              </a:lnSpc>
              <a:spcAft>
                <a:spcPts val="1500"/>
              </a:spcAft>
              <a:defRPr/>
            </a:pPr>
            <a:r>
              <a:rPr lang="en-US" sz="1600">
                <a:solidFill>
                  <a:srgbClr val="EFF6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Songti SC"/>
              </a:rPr>
              <a:t>采用“数据不出域”的底层架构设计，天然符合全球最严格的数据安全与隐私保护法规标准，从根源上为企业的数据合规与业务安全保驾护航。</a:t>
            </a:r>
            <a:endParaRPr lang="en-US" sz="1600">
              <a:solidFill>
                <a:srgbClr val="EFF6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Songti SC"/>
            </a:endParaRPr>
          </a:p>
          <a:p>
            <a:pPr indent="0" algn="l">
              <a:lnSpc>
                <a:spcPct val="100000"/>
              </a:lnSpc>
              <a:spcAft>
                <a:spcPts val="1500"/>
              </a:spcAft>
              <a:defRPr/>
            </a:pPr>
            <a:r>
              <a:rPr lang="en-US" sz="1600" b="1">
                <a:solidFill>
                  <a:srgbClr val="FBBF2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微软雅黑" panose="020B0503020204020204" charset="-122"/>
              </a:rPr>
              <a:t>一次性付费 · 终身使用</a:t>
            </a:r>
            <a:endParaRPr lang="en-US" sz="16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algn="l">
              <a:lnSpc>
                <a:spcPct val="117000"/>
              </a:lnSpc>
            </a:pPr>
            <a:r>
              <a:rPr lang="en-US" sz="1600">
                <a:solidFill>
                  <a:srgbClr val="EFF6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Songti SC"/>
              </a:rPr>
              <a:t>区别于传统SaaS订阅模式，提供一次性的软硬件授权许可。让用户真正拥有完全的数据主权，享受系统的终身无后顾之忧的使用权，避免长期的订阅成本负担。</a:t>
            </a:r>
            <a:endParaRPr lang="en-US" sz="1600" b="0" i="0" u="none" strike="noStrike">
              <a:solidFill>
                <a:srgbClr val="EFF6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Songti SC"/>
            </a:endParaRPr>
          </a:p>
          <a:p>
            <a:pPr indent="0" algn="l">
              <a:lnSpc>
                <a:spcPct val="117000"/>
              </a:lnSpc>
            </a:pPr>
            <a:endParaRPr lang="en-US" sz="1600" b="1" i="0" u="none" strike="noStrike">
              <a:solidFill>
                <a:srgbClr val="FFFFFF"/>
              </a:solidFill>
              <a:effectLst>
                <a:outerShdw blurRad="50800" dist="25400" dir="2700000" algn="tl" rotWithShape="0">
                  <a:srgbClr val="000000">
                    <a:alpha val="80000"/>
                  </a:srgb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5043170" y="586105"/>
            <a:ext cx="7261225" cy="77533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核心亮点：为高价值用户量身打造</a:t>
            </a:r>
            <a:endParaRPr lang="en-US" sz="2800" b="1" i="0" u="none" strike="noStrike">
              <a:solidFill>
                <a:srgbClr val="FFFFFF"/>
              </a:solidFill>
              <a:effectLst>
                <a:outerShdw blurRad="63500" dist="38100" dir="2700000" algn="tl" rotWithShape="0">
                  <a:srgbClr val="000000">
                    <a:alpha val="80000"/>
                  </a:srgb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Noto Sans SC" panose="020B0200000000000000" charset="-122"/>
            </a:endParaRPr>
          </a:p>
        </p:txBody>
      </p:sp>
      <p:grpSp>
        <p:nvGrpSpPr>
          <p:cNvPr id="42" name="组合 41"/>
          <p:cNvGrpSpPr/>
          <p:nvPr/>
        </p:nvGrpSpPr>
        <p:grpSpPr>
          <a:xfrm rot="5400000">
            <a:off x="-3253422" y="-1066482"/>
            <a:ext cx="9090660" cy="8990965"/>
            <a:chOff x="-5123" y="-1679"/>
            <a:chExt cx="14316" cy="14159"/>
          </a:xfrm>
        </p:grpSpPr>
        <p:sp useBgFill="1">
          <p:nvSpPr>
            <p:cNvPr id="12" name="流程图: 汇总连接 11"/>
            <p:cNvSpPr/>
            <p:nvPr/>
          </p:nvSpPr>
          <p:spPr>
            <a:xfrm>
              <a:off x="-5123" y="-1679"/>
              <a:ext cx="14316" cy="14159"/>
            </a:xfrm>
            <a:prstGeom prst="flowChartSummingJunction">
              <a:avLst/>
            </a:prstGeom>
            <a:ln>
              <a:solidFill>
                <a:schemeClr val="bg1"/>
              </a:solidFill>
            </a:ln>
            <a:effectLst>
              <a:outerShdw blurRad="254000" dist="1270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文本框 18"/>
            <p:cNvSpPr txBox="1"/>
            <p:nvPr/>
          </p:nvSpPr>
          <p:spPr>
            <a:xfrm rot="5400000">
              <a:off x="3951" y="4664"/>
              <a:ext cx="3640" cy="92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lang="en-US" altLang="zh-CN" sz="2800">
                  <a:solidFill>
                    <a:schemeClr val="bg1"/>
                  </a:solidFill>
                  <a:latin typeface="Arial Black" panose="020B0A04020102020204" charset="0"/>
                  <a:cs typeface="Arial Black" panose="020B0A04020102020204" charset="0"/>
                </a:rPr>
                <a:t>RART 02</a:t>
              </a:r>
              <a:endParaRPr lang="en-US" altLang="zh-CN" sz="28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endParaRPr>
            </a:p>
          </p:txBody>
        </p:sp>
        <p:grpSp>
          <p:nvGrpSpPr>
            <p:cNvPr id="41" name="组合 40"/>
            <p:cNvGrpSpPr/>
            <p:nvPr/>
          </p:nvGrpSpPr>
          <p:grpSpPr>
            <a:xfrm>
              <a:off x="-1794" y="1154"/>
              <a:ext cx="6826" cy="8017"/>
              <a:chOff x="-1794" y="1154"/>
              <a:chExt cx="6826" cy="8017"/>
            </a:xfrm>
          </p:grpSpPr>
          <p:sp>
            <p:nvSpPr>
              <p:cNvPr id="22" name="文本框 21"/>
              <p:cNvSpPr txBox="1"/>
              <p:nvPr/>
            </p:nvSpPr>
            <p:spPr>
              <a:xfrm rot="10800000">
                <a:off x="-250" y="8266"/>
                <a:ext cx="4168" cy="905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pPr lvl="0" algn="ctr">
                  <a:buSzTx/>
                </a:pPr>
                <a:r>
                  <a:rPr lang="en-US" altLang="zh-CN" sz="2800">
                    <a:solidFill>
                      <a:schemeClr val="bg1"/>
                    </a:solidFill>
                    <a:latin typeface="Arial Black" panose="020B0A04020102020204" charset="0"/>
                    <a:cs typeface="Arial Black" panose="020B0A04020102020204" charset="0"/>
                    <a:sym typeface="+mn-ea"/>
                  </a:rPr>
                  <a:t>RART 0</a:t>
                </a:r>
                <a:r>
                  <a:rPr lang="en-US" altLang="zh-CN" sz="2800">
                    <a:solidFill>
                      <a:schemeClr val="bg1"/>
                    </a:solidFill>
                    <a:latin typeface="Arial Black" panose="020B0A04020102020204" charset="0"/>
                    <a:cs typeface="Arial Black" panose="020B0A04020102020204" charset="0"/>
                    <a:sym typeface="+mn-ea"/>
                  </a:rPr>
                  <a:t>3</a:t>
                </a:r>
                <a:endParaRPr lang="en-US" altLang="zh-CN" sz="2800">
                  <a:solidFill>
                    <a:schemeClr val="bg1"/>
                  </a:solidFill>
                  <a:latin typeface="Arial Black" panose="020B0A04020102020204" charset="0"/>
                  <a:cs typeface="Arial Black" panose="020B0A04020102020204" charset="0"/>
                  <a:sym typeface="+mn-ea"/>
                </a:endParaRPr>
              </a:p>
              <a:p>
                <a:pPr lvl="0" algn="ctr">
                  <a:buSzTx/>
                </a:pPr>
                <a:endParaRPr lang="en-US" altLang="zh-CN" sz="2800">
                  <a:solidFill>
                    <a:schemeClr val="bg1"/>
                  </a:solidFill>
                  <a:latin typeface="Arial Black" panose="020B0A04020102020204" charset="0"/>
                  <a:cs typeface="Arial Black" panose="020B0A04020102020204" charset="0"/>
                  <a:sym typeface="+mn-ea"/>
                </a:endParaRPr>
              </a:p>
            </p:txBody>
          </p:sp>
          <p:grpSp>
            <p:nvGrpSpPr>
              <p:cNvPr id="40" name="组合 39"/>
              <p:cNvGrpSpPr/>
              <p:nvPr/>
            </p:nvGrpSpPr>
            <p:grpSpPr>
              <a:xfrm>
                <a:off x="-1794" y="1154"/>
                <a:ext cx="6826" cy="7170"/>
                <a:chOff x="-1794" y="1154"/>
                <a:chExt cx="6826" cy="7170"/>
              </a:xfrm>
            </p:grpSpPr>
            <p:sp useBgFill="1">
              <p:nvSpPr>
                <p:cNvPr id="13" name="流程图: 联系 12"/>
                <p:cNvSpPr/>
                <p:nvPr/>
              </p:nvSpPr>
              <p:spPr>
                <a:xfrm rot="2700000">
                  <a:off x="-723" y="2569"/>
                  <a:ext cx="5777" cy="5733"/>
                </a:xfrm>
                <a:prstGeom prst="flowChartConnector">
                  <a:avLst/>
                </a:prstGeom>
                <a:ln>
                  <a:noFill/>
                </a:ln>
                <a:effectLst>
                  <a:outerShdw blurRad="254000" dist="127000" algn="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grpSp>
              <p:nvGrpSpPr>
                <p:cNvPr id="39" name="组合 38"/>
                <p:cNvGrpSpPr/>
                <p:nvPr/>
              </p:nvGrpSpPr>
              <p:grpSpPr>
                <a:xfrm>
                  <a:off x="-1794" y="1154"/>
                  <a:ext cx="5448" cy="5794"/>
                  <a:chOff x="-1794" y="1154"/>
                  <a:chExt cx="5448" cy="5794"/>
                </a:xfrm>
              </p:grpSpPr>
              <p:sp>
                <p:nvSpPr>
                  <p:cNvPr id="16" name="文本框 15"/>
                  <p:cNvSpPr txBox="1"/>
                  <p:nvPr/>
                </p:nvSpPr>
                <p:spPr>
                  <a:xfrm>
                    <a:off x="14" y="1154"/>
                    <a:ext cx="3640" cy="92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noAutofit/>
                  </a:bodyPr>
                  <a:p>
                    <a:pPr algn="ctr"/>
                    <a:r>
                      <a:rPr lang="en-US" altLang="zh-CN" sz="2800">
                        <a:solidFill>
                          <a:schemeClr val="bg1"/>
                        </a:solidFill>
                        <a:latin typeface="Arial Black" panose="020B0A04020102020204" charset="0"/>
                        <a:cs typeface="Arial Black" panose="020B0A04020102020204" charset="0"/>
                      </a:rPr>
                      <a:t>RART 01</a:t>
                    </a:r>
                    <a:endParaRPr lang="en-US" altLang="zh-CN" sz="2800">
                      <a:solidFill>
                        <a:schemeClr val="bg1"/>
                      </a:solidFill>
                      <a:latin typeface="Arial Black" panose="020B0A04020102020204" charset="0"/>
                      <a:cs typeface="Arial Black" panose="020B0A04020102020204" charset="0"/>
                    </a:endParaRPr>
                  </a:p>
                </p:txBody>
              </p:sp>
              <p:sp>
                <p:nvSpPr>
                  <p:cNvPr id="24" name="文本框 23"/>
                  <p:cNvSpPr txBox="1"/>
                  <p:nvPr/>
                </p:nvSpPr>
                <p:spPr>
                  <a:xfrm rot="16200000">
                    <a:off x="-3150" y="4664"/>
                    <a:ext cx="3640" cy="92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noAutofit/>
                  </a:bodyPr>
                  <a:p>
                    <a:pPr algn="ctr"/>
                    <a:r>
                      <a:rPr lang="en-US" altLang="zh-CN" sz="2800">
                        <a:solidFill>
                          <a:schemeClr val="bg1"/>
                        </a:solidFill>
                        <a:latin typeface="Arial Black" panose="020B0A04020102020204" charset="0"/>
                        <a:cs typeface="Arial Black" panose="020B0A04020102020204" charset="0"/>
                      </a:rPr>
                      <a:t>RART 04</a:t>
                    </a:r>
                    <a:endParaRPr lang="en-US" altLang="zh-CN" sz="2800">
                      <a:solidFill>
                        <a:schemeClr val="bg1"/>
                      </a:solidFill>
                      <a:latin typeface="Arial Black" panose="020B0A04020102020204" charset="0"/>
                      <a:cs typeface="Arial Black" panose="020B0A04020102020204" charset="0"/>
                    </a:endParaRPr>
                  </a:p>
                </p:txBody>
              </p:sp>
            </p:grpSp>
          </p:grpSp>
        </p:grpSp>
      </p:grpSp>
      <p:sp>
        <p:nvSpPr>
          <p:cNvPr id="2" name="AutoShape 5"/>
          <p:cNvSpPr/>
          <p:nvPr/>
        </p:nvSpPr>
        <p:spPr>
          <a:xfrm>
            <a:off x="7886065" y="6337300"/>
            <a:ext cx="5313045" cy="45847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1" u="none" strike="noStrike" spc="300">
                <a:solidFill>
                  <a:srgbClr val="FFFFFF">
                    <a:alpha val="80000"/>
                  </a:srgbClr>
                </a:solidFill>
                <a:effectLst>
                  <a:outerShdw blurRad="38100" dist="25400" dir="2700000" algn="tl" rotWithShape="0">
                    <a:srgbClr val="000000">
                      <a:alpha val="70000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THE PROJECT ARTIFACT</a:t>
            </a:r>
            <a:endParaRPr lang="en-US" sz="1600" b="0" i="1" u="none" strike="noStrike" spc="300">
              <a:solidFill>
                <a:srgbClr val="FFFFFF">
                  <a:alpha val="80000"/>
                </a:srgbClr>
              </a:solidFill>
              <a:effectLst>
                <a:outerShdw blurRad="38100" dist="25400" dir="2700000" algn="tl" rotWithShape="0">
                  <a:srgbClr val="000000">
                    <a:alpha val="70000"/>
                  </a:srgb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76885" y="709930"/>
            <a:ext cx="10833100" cy="98552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我们的解决方案：</a:t>
            </a:r>
            <a:r>
              <a:rPr lang="en-US" sz="3600" b="1" i="0" u="none" strike="noStrike">
                <a:solidFill>
                  <a:srgbClr val="00B0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本地私有AI，数据不出域</a:t>
            </a:r>
            <a:endParaRPr lang="en-US" sz="3600" b="1" i="0" u="none" strike="noStrike">
              <a:solidFill>
                <a:srgbClr val="00B0F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476885" y="1801495"/>
            <a:ext cx="5715000" cy="431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6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一套软硬一体的本地AI系统，将纸质、手写、录音、图片全部自动整理成结构化知识库，全程不上云，数据与隐私完全自主可控。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2000"/>
              </a:spcBef>
            </a:pPr>
            <a:r>
              <a:rPr lang="en-US" sz="1800" b="1" i="0" u="none" strike="noStrike">
                <a:solidFill>
                  <a:srgbClr val="FACC1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/ 多模态输入 · 全源汇聚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兼容纸质文件、手写笔记、会议录音、各类图片等全格式资料，打破信息孤岛。</a:t>
            </a:r>
            <a:endParaRPr lang="en-US" sz="13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  <a:spcBef>
                <a:spcPts val="1500"/>
              </a:spcBef>
            </a:pPr>
            <a:r>
              <a:rPr lang="en-US" sz="18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/ 本地边缘计算 · 数据隔离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所有处理均在您的本地设备完成，数据不上传云端，物理级阻断外部泄露风险。</a:t>
            </a:r>
            <a:endParaRPr lang="en-US" sz="13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  <a:spcBef>
                <a:spcPts val="1500"/>
              </a:spcBef>
            </a:pPr>
            <a:r>
              <a:rPr lang="en-US" sz="1800" b="1" i="0" u="none" strike="noStrike">
                <a:solidFill>
                  <a:srgbClr val="60A5F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/ AI智能引擎 · 深度加工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融合高精度OCR识别、智能语音转写与本地化大模型归纳，自动提炼核心信息。</a:t>
            </a:r>
            <a:endParaRPr lang="en-US" sz="13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  <a:spcBef>
                <a:spcPts val="1500"/>
              </a:spcBef>
            </a:pPr>
            <a:r>
              <a:rPr lang="en-US" sz="1800" b="1" i="0" u="none" strike="noStrike">
                <a:solidFill>
                  <a:srgbClr val="A78BF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/ 私有知识库 · 高效复用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最终生成结构清晰、支持快速检索的私有化知识库，让组织智力资产沉淀增值。</a:t>
            </a:r>
            <a:endParaRPr lang="en-US" sz="13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6798310" y="1590040"/>
            <a:ext cx="5031105" cy="4224020"/>
          </a:xfrm>
          <a:prstGeom prst="roundRect">
            <a:avLst/>
          </a:prstGeom>
          <a:blipFill rotWithShape="1">
            <a:blip r:embed="rId2"/>
            <a:stretch>
              <a:fillRect/>
            </a:stretch>
          </a:blip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508000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竞品分析：我们为何更值得选择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660400" y="1905000"/>
            <a:ext cx="5270500" cy="4318000"/>
          </a:xfrm>
          <a:prstGeom prst="roundRect">
            <a:avLst>
              <a:gd name="adj" fmla="val 3529"/>
            </a:avLst>
          </a:prstGeom>
          <a:solidFill>
            <a:srgbClr val="1F2937">
              <a:alpha val="92000"/>
            </a:srgbClr>
          </a:solidFill>
          <a:ln w="12700" cap="flat" cmpd="sng">
            <a:solidFill>
              <a:srgbClr val="4B5563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914400" y="2159000"/>
            <a:ext cx="4762500" cy="381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spcAft>
                <a:spcPts val="1600"/>
              </a:spcAft>
              <a:defRPr/>
            </a:pPr>
            <a:r>
              <a:rPr lang="en-US" sz="2000" b="1" i="0" u="none" strike="noStrike">
                <a:solidFill>
                  <a:srgbClr val="F8717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❌ 传统方案：痛点明显，隐患重重</a:t>
            </a:r>
            <a:endParaRPr lang="en-US" sz="1100"/>
          </a:p>
          <a:p>
            <a:pPr indent="0" algn="l">
              <a:lnSpc>
                <a:spcPct val="117000"/>
              </a:lnSpc>
              <a:spcAft>
                <a:spcPts val="1200"/>
              </a:spcAft>
            </a:pPr>
            <a:r>
              <a:rPr lang="en-US" sz="1500" b="1" i="0" u="none" strike="noStrike">
                <a:solidFill>
                  <a:srgbClr val="FCA5A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主流云端SaaS (Notion AI/语雀)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安全风险：数据上传云端即面临合规与泄露风险，订阅费持续上涨且数据所有权不清晰。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功能限制：OCR、语音转写极度依赖网络，断网即“变砖”，无法满足高敏感业务场景。</a:t>
            </a:r>
            <a:endParaRPr lang="en-US" sz="13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</a:pPr>
            <a:r>
              <a:rPr lang="en-US" sz="1500" b="1" i="0" u="none" strike="noStrike">
                <a:solidFill>
                  <a:srgbClr val="FB92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普通本地笔记 (Obsidian/Joplin)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体验割裂：AI能力需依赖插件拼凑，稳定性差，配置门槛高。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信任缺失：无合规审计能力，企业级应用场景难以落地，AI功能仍需调用外网接口，存在隐形风险。</a:t>
            </a:r>
            <a:endParaRPr lang="en-US" sz="13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6261100" y="1905000"/>
            <a:ext cx="5270500" cy="4318000"/>
          </a:xfrm>
          <a:prstGeom prst="roundRect">
            <a:avLst>
              <a:gd name="adj" fmla="val 3529"/>
            </a:avLst>
          </a:prstGeom>
          <a:solidFill>
            <a:srgbClr val="064E3B">
              <a:alpha val="95000"/>
            </a:srgbClr>
          </a:solidFill>
          <a:ln w="25400" cap="flat" cmpd="sng">
            <a:solidFill>
              <a:srgbClr val="34D399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6515100" y="2159000"/>
            <a:ext cx="4762500" cy="381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spcAft>
                <a:spcPts val="1600"/>
              </a:spcAft>
              <a:defRPr/>
            </a:pPr>
            <a:r>
              <a:rPr lang="en-US" sz="22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✅ 本项目：边缘端侧系统 —— 全新范式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5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🛡️ 绝对安全 · 全程本地处理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D1FAE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数据不出设备，彻底规避云端泄露风险，天然符合企业级合规审计要求。</a:t>
            </a:r>
            <a:endParaRPr lang="en-US" sz="1300" b="0" i="0" u="none" strike="noStrike">
              <a:solidFill>
                <a:srgbClr val="D1FAE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15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💻 全能离线 · 原生AI整合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D1FAE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深度整合本地大模型、OCR及语音能力，无需插件，断网环境下依然流畅使用。</a:t>
            </a:r>
            <a:endParaRPr lang="en-US" sz="1300" b="0" i="0" u="none" strike="noStrike">
              <a:solidFill>
                <a:srgbClr val="D1FAE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15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💎 成本可控 · 数据主权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D1FAE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一次性部署无年费，数据完全归属于用户，摆脱第三方依赖，实现真正的知识资产自主。</a:t>
            </a:r>
            <a:endParaRPr lang="en-US" sz="1300" b="0" i="0" u="none" strike="noStrike">
              <a:solidFill>
                <a:srgbClr val="D1FAE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368300"/>
            <a:ext cx="12192000" cy="1320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技术架构：安全与智能的基石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838200" y="1689100"/>
            <a:ext cx="10515600" cy="457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spcBef>
                <a:spcPts val="1000"/>
              </a:spcBef>
              <a:defRPr/>
            </a:pPr>
            <a:r>
              <a:rPr lang="en-US" sz="2000" b="1" i="0" u="none" strike="noStrike">
                <a:solidFill>
                  <a:srgbClr val="FFD7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▍ 硬件层：高性能边缘计算底座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600"/>
              </a:spcBef>
            </a:pPr>
            <a:r>
              <a:rPr lang="en-US" sz="1600" b="0" i="0" u="none" strike="noStrike">
                <a:solidFill>
                  <a:srgbClr val="FFFFFF"/>
                </a:solidFill>
                <a:latin typeface="Songti SC"/>
                <a:ea typeface="Songti SC"/>
                <a:cs typeface="Songti SC"/>
                <a:sym typeface="Songti SC"/>
              </a:rPr>
              <a:t>采用树莓派5等高性能边缘计算节点，构建低功耗、高可靠的本地私有计算环境，在不依赖云端的前提下提供强大算力支持。</a:t>
            </a:r>
            <a:endParaRPr lang="en-US" sz="1600" b="0" i="0" u="none" strike="noStrike">
              <a:solidFill>
                <a:srgbClr val="FFFFFF"/>
              </a:solidFill>
              <a:latin typeface="Songti SC"/>
              <a:ea typeface="Songti SC"/>
              <a:cs typeface="Songti SC"/>
              <a:sym typeface="Songti SC"/>
            </a:endParaRPr>
          </a:p>
          <a:p>
            <a:pPr indent="0" algn="l">
              <a:lnSpc>
                <a:spcPct val="117000"/>
              </a:lnSpc>
              <a:spcBef>
                <a:spcPts val="1800"/>
              </a:spcBef>
            </a:pPr>
            <a:r>
              <a:rPr lang="en-US" sz="2000" b="1" i="0" u="none" strike="noStrike">
                <a:solidFill>
                  <a:srgbClr val="FFD7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▍ 模型层：轻量化大模型高效部署</a:t>
            </a:r>
            <a:endParaRPr lang="en-US" sz="2000" b="1" i="0" u="none" strike="noStrike">
              <a:solidFill>
                <a:srgbClr val="FFD7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  <a:spcBef>
                <a:spcPts val="600"/>
              </a:spcBef>
            </a:pPr>
            <a:r>
              <a:rPr lang="en-US" sz="1600" b="0" i="0" u="none" strike="noStrike">
                <a:solidFill>
                  <a:srgbClr val="FFFFFF"/>
                </a:solidFill>
                <a:latin typeface="Songti SC"/>
                <a:ea typeface="Songti SC"/>
                <a:cs typeface="Songti SC"/>
                <a:sym typeface="Songti SC"/>
              </a:rPr>
              <a:t>部署Llama-3、Qwen等主流开源大模型的量化版本，结合GGUF技术在边缘端实现高效、低延迟的离线推理，确保AI能力本地化运行。</a:t>
            </a:r>
            <a:endParaRPr lang="en-US" sz="1600" b="0" i="0" u="none" strike="noStrike">
              <a:solidFill>
                <a:srgbClr val="FFFFFF"/>
              </a:solidFill>
              <a:latin typeface="Songti SC"/>
              <a:ea typeface="Songti SC"/>
              <a:cs typeface="Songti SC"/>
              <a:sym typeface="Songti SC"/>
            </a:endParaRPr>
          </a:p>
          <a:p>
            <a:pPr indent="0" algn="l">
              <a:lnSpc>
                <a:spcPct val="117000"/>
              </a:lnSpc>
              <a:spcBef>
                <a:spcPts val="1800"/>
              </a:spcBef>
            </a:pPr>
            <a:r>
              <a:rPr lang="en-US" sz="2000" b="1" i="0" u="none" strike="noStrike">
                <a:solidFill>
                  <a:srgbClr val="FFD7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▍ 算法层：多模态融合与精准检索</a:t>
            </a:r>
            <a:endParaRPr lang="en-US" sz="2000" b="1" i="0" u="none" strike="noStrike">
              <a:solidFill>
                <a:srgbClr val="FFD7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  <a:spcBef>
                <a:spcPts val="600"/>
              </a:spcBef>
            </a:pPr>
            <a:r>
              <a:rPr lang="en-US" sz="1600" b="0" i="0" u="none" strike="noStrike">
                <a:solidFill>
                  <a:srgbClr val="FFFFFF"/>
                </a:solidFill>
                <a:latin typeface="Songti SC"/>
                <a:ea typeface="Songti SC"/>
                <a:cs typeface="Songti SC"/>
                <a:sym typeface="Songti SC"/>
              </a:rPr>
              <a:t>集成本地OCR、手写识别与语音转写算法，打破数据输入限制；引入RAG检索增强技术与本地向量数据库，有效解决大模型幻觉问题，实现私有知识的精准问答。</a:t>
            </a:r>
            <a:endParaRPr lang="en-US" sz="1600" b="0" i="0" u="none" strike="noStrike">
              <a:solidFill>
                <a:srgbClr val="FFFFFF"/>
              </a:solidFill>
              <a:latin typeface="Songti SC"/>
              <a:ea typeface="Songti SC"/>
              <a:cs typeface="Songti SC"/>
              <a:sym typeface="Songti SC"/>
            </a:endParaRPr>
          </a:p>
          <a:p>
            <a:pPr indent="0" algn="l">
              <a:lnSpc>
                <a:spcPct val="117000"/>
              </a:lnSpc>
              <a:spcBef>
                <a:spcPts val="1800"/>
              </a:spcBef>
            </a:pPr>
            <a:r>
              <a:rPr lang="en-US" sz="2000" b="1" i="0" u="none" strike="noStrike">
                <a:solidFill>
                  <a:srgbClr val="FFD7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▍ 安全层：端到端数据隐私防线</a:t>
            </a:r>
            <a:endParaRPr lang="en-US" sz="2000" b="1" i="0" u="none" strike="noStrike">
              <a:solidFill>
                <a:srgbClr val="FFD7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  <a:spcBef>
                <a:spcPts val="600"/>
              </a:spcBef>
            </a:pPr>
            <a:r>
              <a:rPr lang="en-US" sz="1600" b="0" i="0" u="none" strike="noStrike">
                <a:solidFill>
                  <a:srgbClr val="FFFFFF"/>
                </a:solidFill>
                <a:latin typeface="Songti SC"/>
                <a:ea typeface="Songti SC"/>
                <a:cs typeface="Songti SC"/>
                <a:sym typeface="Songti SC"/>
              </a:rPr>
              <a:t>核心数据采用AES-256高强度算法进行本地加密存储，并配合严格的内网访问控制策略，从技术上确保所有敏感数据100%不出域，彻底消除隐私泄露风险。</a:t>
            </a:r>
            <a:endParaRPr lang="en-US" sz="1600" b="0" i="0" u="none" strike="noStrike">
              <a:solidFill>
                <a:srgbClr val="FFFFFF"/>
              </a:solidFill>
              <a:latin typeface="Songti SC"/>
              <a:ea typeface="Songti SC"/>
              <a:cs typeface="Songti SC"/>
              <a:sym typeface="Songti SC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368300"/>
            <a:ext cx="12192000" cy="1320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项目成果：从原型到现实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838200" y="1905000"/>
            <a:ext cx="10515600" cy="457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spcBef>
                <a:spcPts val="1500"/>
              </a:spcBef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Songti SC"/>
                <a:ea typeface="Songti SC"/>
                <a:cs typeface="Songti SC"/>
                <a:sym typeface="Songti SC"/>
              </a:rPr>
              <a:t>▍完整 Web 前端开发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800"/>
              </a:spcBef>
            </a:pPr>
            <a:r>
              <a:rPr lang="en-US" sz="1700" b="0" i="0" u="none" strike="noStrike">
                <a:solidFill>
                  <a:srgbClr val="FFFFFF"/>
                </a:solidFill>
                <a:latin typeface="Songti SC"/>
                <a:ea typeface="Songti SC"/>
                <a:cs typeface="Songti SC"/>
                <a:sym typeface="Songti SC"/>
              </a:rPr>
              <a:t>成功开发了用户友好的可视化操作界面，实现了从文件上传、处理状态实时监控到最终结果展示的全流程闭环，确保用户操作流畅、直观。</a:t>
            </a:r>
            <a:endParaRPr lang="en-US" sz="1700" b="0" i="0" u="none" strike="noStrike">
              <a:solidFill>
                <a:srgbClr val="FFFFFF"/>
              </a:solidFill>
              <a:latin typeface="Songti SC"/>
              <a:ea typeface="Songti SC"/>
              <a:cs typeface="Songti SC"/>
              <a:sym typeface="Songti SC"/>
            </a:endParaRPr>
          </a:p>
          <a:p>
            <a:pPr indent="0" algn="l">
              <a:lnSpc>
                <a:spcPct val="108000"/>
              </a:lnSpc>
              <a:spcBef>
                <a:spcPts val="3000"/>
              </a:spcBef>
            </a:pPr>
            <a:r>
              <a:rPr lang="en-US" sz="2000" b="1" i="0" u="none" strike="noStrike">
                <a:solidFill>
                  <a:srgbClr val="FFFFFF"/>
                </a:solidFill>
                <a:latin typeface="Songti SC"/>
                <a:ea typeface="Songti SC"/>
                <a:cs typeface="Songti SC"/>
                <a:sym typeface="Songti SC"/>
              </a:rPr>
              <a:t>▍核心功能可行性验证</a:t>
            </a:r>
            <a:endParaRPr lang="en-US" sz="2000" b="1" i="0" u="none" strike="noStrike">
              <a:solidFill>
                <a:srgbClr val="FFFFFF"/>
              </a:solidFill>
              <a:latin typeface="Songti SC"/>
              <a:ea typeface="Songti SC"/>
              <a:cs typeface="Songti SC"/>
              <a:sym typeface="Songti SC"/>
            </a:endParaRPr>
          </a:p>
          <a:p>
            <a:pPr marL="190500" indent="0" algn="l">
              <a:lnSpc>
                <a:spcPct val="108000"/>
              </a:lnSpc>
              <a:spcBef>
                <a:spcPts val="1000"/>
              </a:spcBef>
            </a:pPr>
            <a:r>
              <a:rPr lang="en-US" sz="1700" b="1" i="0" u="none" strike="noStrike">
                <a:solidFill>
                  <a:srgbClr val="FFFFFF"/>
                </a:solidFill>
                <a:latin typeface="Songti SC"/>
                <a:ea typeface="Songti SC"/>
                <a:cs typeface="Songti SC"/>
                <a:sym typeface="Songti SC"/>
              </a:rPr>
              <a:t>● 本地化 OCR 识别能力：</a:t>
            </a:r>
            <a:r>
              <a:rPr lang="en-US" sz="1700" b="0" i="0" u="none" strike="noStrike">
                <a:solidFill>
                  <a:srgbClr val="FFFFFF"/>
                </a:solidFill>
                <a:latin typeface="Songti SC"/>
                <a:ea typeface="Songti SC"/>
                <a:cs typeface="Songti SC"/>
                <a:sym typeface="Songti SC"/>
              </a:rPr>
              <a:t>已成功集成并完成本地化 OCR 模型的完整测试。实测中，系统能够精准识别各类图片中的关键文本信息，确保了非结构化数据向结构化信息转化的准确性。</a:t>
            </a:r>
            <a:endParaRPr lang="en-US" sz="1700" b="0" i="0" u="none" strike="noStrike">
              <a:solidFill>
                <a:srgbClr val="FFFFFF"/>
              </a:solidFill>
              <a:latin typeface="Songti SC"/>
              <a:ea typeface="Songti SC"/>
              <a:cs typeface="Songti SC"/>
              <a:sym typeface="Songti SC"/>
            </a:endParaRPr>
          </a:p>
          <a:p>
            <a:pPr marL="190500" indent="0" algn="l">
              <a:lnSpc>
                <a:spcPct val="108000"/>
              </a:lnSpc>
              <a:spcBef>
                <a:spcPts val="1500"/>
              </a:spcBef>
            </a:pPr>
            <a:r>
              <a:rPr lang="en-US" sz="1700" b="1" i="0" u="none" strike="noStrike">
                <a:solidFill>
                  <a:srgbClr val="FFFFFF"/>
                </a:solidFill>
                <a:latin typeface="Songti SC"/>
                <a:ea typeface="Songti SC"/>
                <a:cs typeface="Songti SC"/>
                <a:sym typeface="Songti SC"/>
              </a:rPr>
              <a:t>● 多模态内容缝合算法：</a:t>
            </a:r>
            <a:r>
              <a:rPr lang="en-US" sz="1700" b="0" i="0" u="none" strike="noStrike">
                <a:solidFill>
                  <a:srgbClr val="FFFFFF"/>
                </a:solidFill>
                <a:latin typeface="Songti SC"/>
                <a:ea typeface="Songti SC"/>
                <a:cs typeface="Songti SC"/>
                <a:sym typeface="Songti SC"/>
              </a:rPr>
              <a:t>自主实现了基础的文件流智能合并算法。该功能已验证其可行性，能够将不同来源、不同格式的内容模块（如文本块 A 与文本块 B），按照预设逻辑智能拼接整合，最终生成结构清晰、逻辑连贯的新知识文档（AB），为知识重构提供了坚实的底层算法支撑。</a:t>
            </a:r>
            <a:endParaRPr lang="en-US" sz="1700" b="0" i="0" u="none" strike="noStrike">
              <a:solidFill>
                <a:srgbClr val="FFFFFF"/>
              </a:solidFill>
              <a:latin typeface="Songti SC"/>
              <a:ea typeface="Songti SC"/>
              <a:cs typeface="Songti SC"/>
              <a:sym typeface="Songti SC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35000" y="368300"/>
            <a:ext cx="10922000" cy="1320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ctr">
              <a:lnSpc>
                <a:spcPct val="92000"/>
              </a:lnSpc>
              <a:defRPr/>
            </a:pPr>
            <a:r>
              <a:rPr lang="en-US" sz="4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项目成果：从原型到现实（硬件与工程）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838200" y="1689100"/>
            <a:ext cx="10515600" cy="457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127000" rIns="88900" bIns="127000" rtlCol="0" anchor="t" anchorCtr="0"/>
          <a:lstStyle/>
          <a:p>
            <a:pPr marL="304800" indent="-304800" algn="l">
              <a:lnSpc>
                <a:spcPct val="108000"/>
              </a:lnSpc>
              <a:buClr>
                <a:srgbClr val="FFFFFF"/>
              </a:buClr>
              <a:buChar char="•"/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Songti SC"/>
                <a:ea typeface="Songti SC"/>
                <a:cs typeface="Songti SC"/>
                <a:sym typeface="Songti SC"/>
              </a:rPr>
              <a:t>本地模型部署验证</a:t>
            </a:r>
            <a:endParaRPr lang="en-US" sz="1100"/>
          </a:p>
          <a:p>
            <a:pPr marL="228600" indent="-228600" algn="l">
              <a:lnSpc>
                <a:spcPct val="108000"/>
              </a:lnSpc>
              <a:spcBef>
                <a:spcPts val="800"/>
              </a:spcBef>
              <a:buClr>
                <a:srgbClr val="E5E7EB"/>
              </a:buClr>
              <a:buChar char="•"/>
            </a:pPr>
            <a:r>
              <a:rPr lang="en-US" sz="1800" b="0" i="0" u="none" strike="noStrike">
                <a:solidFill>
                  <a:srgbClr val="E5E7EB"/>
                </a:solidFill>
                <a:latin typeface="Songti SC"/>
                <a:ea typeface="Songti SC"/>
                <a:cs typeface="Songti SC"/>
                <a:sym typeface="Songti SC"/>
              </a:rPr>
              <a:t>在本地开发环境中成功部署了轻量级AI模型，完整验证了数据完全在本地处理、无公网上传的技术闭环，确保了数据隐私的绝对安全。</a:t>
            </a:r>
            <a:endParaRPr lang="en-US" sz="1800" b="0" i="0" u="none" strike="noStrike">
              <a:solidFill>
                <a:srgbClr val="E5E7EB"/>
              </a:solidFill>
              <a:latin typeface="Songti SC"/>
              <a:ea typeface="Songti SC"/>
              <a:cs typeface="Songti SC"/>
              <a:sym typeface="Songti SC"/>
            </a:endParaRPr>
          </a:p>
          <a:p>
            <a:pPr indent="0" algn="l">
              <a:lnSpc>
                <a:spcPct val="117000"/>
              </a:lnSpc>
              <a:spcBef>
                <a:spcPts val="2500"/>
              </a:spcBef>
            </a:pPr>
          </a:p>
          <a:p>
            <a:pPr marL="304800" indent="-304800" algn="l">
              <a:lnSpc>
                <a:spcPct val="108000"/>
              </a:lnSpc>
              <a:buClr>
                <a:srgbClr val="FFFFFF"/>
              </a:buClr>
              <a:buChar char="•"/>
            </a:pPr>
            <a:r>
              <a:rPr lang="en-US" sz="2400" b="1" i="0" u="none" strike="noStrike">
                <a:solidFill>
                  <a:srgbClr val="FFFFFF"/>
                </a:solidFill>
                <a:latin typeface="Songti SC"/>
                <a:ea typeface="Songti SC"/>
                <a:cs typeface="Songti SC"/>
                <a:sym typeface="Songti SC"/>
              </a:rPr>
              <a:t>硬件适配与边缘计算</a:t>
            </a:r>
            <a:endParaRPr lang="en-US" sz="2400" b="1" i="0" u="none" strike="noStrike">
              <a:solidFill>
                <a:srgbClr val="FFFFFF"/>
              </a:solidFill>
              <a:latin typeface="Songti SC"/>
              <a:ea typeface="Songti SC"/>
              <a:cs typeface="Songti SC"/>
              <a:sym typeface="Songti SC"/>
            </a:endParaRPr>
          </a:p>
          <a:p>
            <a:pPr marL="228600" indent="-228600" algn="l">
              <a:lnSpc>
                <a:spcPct val="108000"/>
              </a:lnSpc>
              <a:spcBef>
                <a:spcPts val="800"/>
              </a:spcBef>
              <a:buClr>
                <a:srgbClr val="E5E7EB"/>
              </a:buClr>
              <a:buChar char="•"/>
            </a:pPr>
            <a:r>
              <a:rPr lang="en-US" sz="1800" b="0" i="0" u="none" strike="noStrike">
                <a:solidFill>
                  <a:srgbClr val="E5E7EB"/>
                </a:solidFill>
                <a:latin typeface="Songti SC"/>
                <a:ea typeface="Songti SC"/>
                <a:cs typeface="Songti SC"/>
                <a:sym typeface="Songti SC"/>
              </a:rPr>
              <a:t>已完成向树莓派等主流边缘计算硬件的初步移植测试，有效解决了算力与功耗的平衡难题，充分证实了边缘计算架构的可行性与落地性。</a:t>
            </a:r>
            <a:endParaRPr lang="en-US" sz="1800" b="0" i="0" u="none" strike="noStrike">
              <a:solidFill>
                <a:srgbClr val="E5E7EB"/>
              </a:solidFill>
              <a:latin typeface="Songti SC"/>
              <a:ea typeface="Songti SC"/>
              <a:cs typeface="Songti SC"/>
              <a:sym typeface="Songti SC"/>
            </a:endParaRPr>
          </a:p>
          <a:p>
            <a:pPr indent="0" algn="l">
              <a:lnSpc>
                <a:spcPct val="117000"/>
              </a:lnSpc>
              <a:spcBef>
                <a:spcPts val="2500"/>
              </a:spcBef>
            </a:pPr>
          </a:p>
          <a:p>
            <a:pPr marL="304800" indent="-304800" algn="l">
              <a:lnSpc>
                <a:spcPct val="108000"/>
              </a:lnSpc>
              <a:buClr>
                <a:srgbClr val="FFFFFF"/>
              </a:buClr>
              <a:buChar char="•"/>
            </a:pPr>
            <a:r>
              <a:rPr lang="en-US" sz="2400" b="1" i="0" u="none" strike="noStrike">
                <a:solidFill>
                  <a:srgbClr val="FFFFFF"/>
                </a:solidFill>
                <a:latin typeface="Songti SC"/>
                <a:ea typeface="Songti SC"/>
                <a:cs typeface="Songti SC"/>
                <a:sym typeface="Songti SC"/>
              </a:rPr>
              <a:t>标准化工程化管理体系</a:t>
            </a:r>
            <a:endParaRPr lang="en-US" sz="2400" b="1" i="0" u="none" strike="noStrike">
              <a:solidFill>
                <a:srgbClr val="FFFFFF"/>
              </a:solidFill>
              <a:latin typeface="Songti SC"/>
              <a:ea typeface="Songti SC"/>
              <a:cs typeface="Songti SC"/>
              <a:sym typeface="Songti SC"/>
            </a:endParaRPr>
          </a:p>
          <a:p>
            <a:pPr marL="228600" indent="-228600" algn="l">
              <a:lnSpc>
                <a:spcPct val="108000"/>
              </a:lnSpc>
              <a:spcBef>
                <a:spcPts val="800"/>
              </a:spcBef>
              <a:buClr>
                <a:srgbClr val="E5E7EB"/>
              </a:buClr>
              <a:buChar char="•"/>
            </a:pPr>
            <a:r>
              <a:rPr lang="en-US" sz="1800" b="0" i="0" u="none" strike="noStrike">
                <a:solidFill>
                  <a:srgbClr val="E5E7EB"/>
                </a:solidFill>
                <a:latin typeface="Songti SC"/>
                <a:ea typeface="Songti SC"/>
                <a:cs typeface="Songti SC"/>
                <a:sym typeface="Songti SC"/>
              </a:rPr>
              <a:t>建立了结构清晰的 Git 代码仓库，严格遵循 DevOps 全流程开发规范，实现了开发、测试、部署的自动化流转，为项目的长期持续迭代与商业化产品交付奠定了坚实基础。</a:t>
            </a:r>
            <a:endParaRPr lang="en-US" sz="1800" b="0" i="0" u="none" strike="noStrike">
              <a:solidFill>
                <a:srgbClr val="E5E7EB"/>
              </a:solidFill>
              <a:latin typeface="Songti SC"/>
              <a:ea typeface="Songti SC"/>
              <a:cs typeface="Songti SC"/>
              <a:sym typeface="Songti SC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508000"/>
            <a:ext cx="1219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应用场景：高价值行业的刚需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778000"/>
            <a:ext cx="5207000" cy="2159000"/>
          </a:xfrm>
          <a:prstGeom prst="roundRect">
            <a:avLst>
              <a:gd name="adj" fmla="val 7058"/>
            </a:avLst>
          </a:prstGeom>
          <a:solidFill>
            <a:srgbClr val="111827">
              <a:alpha val="85000"/>
            </a:srgbClr>
          </a:solidFill>
          <a:ln w="12700" cap="flat" cmpd="sng">
            <a:solidFill>
              <a:srgbClr val="4B5563">
                <a:alpha val="8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286000"/>
            <a:ext cx="762000" cy="7620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2032000" y="2032000"/>
            <a:ext cx="3556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律师事务所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1200"/>
              </a:spcBef>
            </a:pP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案卷自动整理，大幅减少人工耗时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严格的客户隐私保护与合规方案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让法律从业者专注于专业服务本身</a:t>
            </a:r>
            <a:endParaRPr lang="en-US" sz="14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6223000" y="1778000"/>
            <a:ext cx="5207000" cy="2159000"/>
          </a:xfrm>
          <a:prstGeom prst="roundRect">
            <a:avLst>
              <a:gd name="adj" fmla="val 7058"/>
            </a:avLst>
          </a:prstGeom>
          <a:solidFill>
            <a:srgbClr val="111827">
              <a:alpha val="85000"/>
            </a:srgbClr>
          </a:solidFill>
          <a:ln w="12700" cap="flat" cmpd="sng">
            <a:solidFill>
              <a:srgbClr val="4B5563">
                <a:alpha val="8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7000" y="2286000"/>
            <a:ext cx="762000" cy="7620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7493000" y="2032000"/>
            <a:ext cx="3556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企业高管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1200"/>
              </a:spcBef>
            </a:pP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一键生成会议纪要与白板内容数字化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商业机密实现本地化、私有化管理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提升办公效率，规避信息泄露风险</a:t>
            </a:r>
            <a:endParaRPr lang="en-US" sz="14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762000" y="4191000"/>
            <a:ext cx="5207000" cy="2159000"/>
          </a:xfrm>
          <a:prstGeom prst="roundRect">
            <a:avLst>
              <a:gd name="adj" fmla="val 7058"/>
            </a:avLst>
          </a:prstGeom>
          <a:solidFill>
            <a:srgbClr val="111827">
              <a:alpha val="85000"/>
            </a:srgbClr>
          </a:solidFill>
          <a:ln w="12700" cap="flat" cmpd="sng">
            <a:solidFill>
              <a:srgbClr val="4B5563">
                <a:alpha val="8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4699000"/>
            <a:ext cx="762000" cy="762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2032000" y="4445000"/>
            <a:ext cx="3556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科研机构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1200"/>
              </a:spcBef>
            </a:pP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实验笔记、手写记录智能结构化处理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核心数据不出内网，严守知识产权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加速科研成果转化，减少重复工作</a:t>
            </a:r>
            <a:endParaRPr lang="en-US" sz="14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6223000" y="4191000"/>
            <a:ext cx="5207000" cy="2159000"/>
          </a:xfrm>
          <a:prstGeom prst="roundRect">
            <a:avLst>
              <a:gd name="adj" fmla="val 7058"/>
            </a:avLst>
          </a:prstGeom>
          <a:solidFill>
            <a:srgbClr val="111827">
              <a:alpha val="85000"/>
            </a:srgbClr>
          </a:solidFill>
          <a:ln w="12700" cap="flat" cmpd="sng">
            <a:solidFill>
              <a:srgbClr val="4B5563">
                <a:alpha val="8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77000" y="4699000"/>
            <a:ext cx="762000" cy="7620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7493000" y="4445000"/>
            <a:ext cx="3556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政府 / 保密单位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1200"/>
              </a:spcBef>
            </a:pP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涉密资料实现本地化、智能化处理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全流程零云端上传，实现零泄露风险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满足高标准的安全保密与效能要求</a:t>
            </a:r>
            <a:endParaRPr lang="en-US" sz="14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35000" y="444500"/>
            <a:ext cx="1092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商业价值：一个高增长、高利润的蓝海市场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905510" y="1567815"/>
            <a:ext cx="10515600" cy="454723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127000" rIns="127000" bIns="127000" rtlCol="0" anchor="t" anchorCtr="0"/>
          <a:lstStyle/>
          <a:p>
            <a:pPr indent="0" algn="l">
              <a:lnSpc>
                <a:spcPct val="117000"/>
              </a:lnSpc>
              <a:spcBef>
                <a:spcPts val="1000"/>
              </a:spcBef>
              <a:defRPr/>
            </a:pPr>
            <a:r>
              <a:rPr lang="en-US" sz="2200" b="1" i="0" u="none" strike="noStrike">
                <a:solidFill>
                  <a:srgbClr val="FFD7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▍ 巨大的市场空间</a:t>
            </a:r>
            <a:br>
              <a:rPr lang="en-US" sz="1800" b="0" i="0" u="none" strike="noStrike">
                <a:solidFill>
                  <a:srgbClr val="FFFFFF">
                    <a:alpha val="94902"/>
                  </a:srgbClr>
                </a:solidFill>
                <a:latin typeface="Songti SC"/>
                <a:ea typeface="Songti SC"/>
                <a:cs typeface="Songti SC"/>
                <a:sym typeface="Songti SC"/>
              </a:rPr>
            </a:br>
            <a:r>
              <a:rPr lang="en-US" sz="1800" b="0" i="0" u="none" strike="noStrike">
                <a:solidFill>
                  <a:srgbClr val="FFFFFF">
                    <a:alpha val="90196"/>
                  </a:srgbClr>
                </a:solidFill>
                <a:latin typeface="Songti SC"/>
                <a:ea typeface="Songti SC"/>
                <a:cs typeface="Songti SC"/>
                <a:sym typeface="Songti SC"/>
              </a:rPr>
              <a:t>隐私AI、本地AI是未来千亿级赛道，市场需求刚刚被唤醒，正处于爆发前夜。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2500"/>
              </a:spcBef>
            </a:pPr>
            <a:r>
              <a:rPr lang="en-US" sz="2200" b="1" i="0" u="none" strike="noStrike">
                <a:solidFill>
                  <a:srgbClr val="FFD7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▍ 高用户价值</a:t>
            </a:r>
            <a:br>
              <a:rPr lang="en-US" sz="1800" b="0" i="0" u="none" strike="noStrike">
                <a:solidFill>
                  <a:srgbClr val="FFFFFF">
                    <a:alpha val="94902"/>
                  </a:srgbClr>
                </a:solidFill>
                <a:latin typeface="Songti SC"/>
                <a:ea typeface="Songti SC"/>
                <a:cs typeface="Songti SC"/>
                <a:sym typeface="Songti SC"/>
              </a:rPr>
            </a:br>
            <a:r>
              <a:rPr lang="en-US" sz="1800" b="0" i="0" u="none" strike="noStrike">
                <a:solidFill>
                  <a:srgbClr val="FFFFFF">
                    <a:alpha val="90196"/>
                  </a:srgbClr>
                </a:solidFill>
                <a:latin typeface="Songti SC"/>
                <a:ea typeface="Songti SC"/>
                <a:cs typeface="Songti SC"/>
                <a:sym typeface="Songti SC"/>
              </a:rPr>
              <a:t>同时解决企业“数据安全”的刚性合规需求与“降本增效”的刚性发展需求，B端用户付费意愿强烈且预算充足。</a:t>
            </a:r>
            <a:endParaRPr lang="en-US" sz="1800" b="0" i="0" u="none" strike="noStrike">
              <a:solidFill>
                <a:srgbClr val="FFFFFF">
                  <a:alpha val="90196"/>
                </a:srgbClr>
              </a:solidFill>
              <a:latin typeface="Songti SC"/>
              <a:ea typeface="Songti SC"/>
              <a:cs typeface="Songti SC"/>
              <a:sym typeface="Songti SC"/>
            </a:endParaRPr>
          </a:p>
          <a:p>
            <a:pPr indent="0" algn="l">
              <a:lnSpc>
                <a:spcPct val="117000"/>
              </a:lnSpc>
              <a:spcBef>
                <a:spcPts val="2500"/>
              </a:spcBef>
            </a:pPr>
            <a:r>
              <a:rPr lang="en-US" sz="2200" b="1" i="0" u="none" strike="noStrike">
                <a:solidFill>
                  <a:srgbClr val="FFD7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▍ 清晰的盈利模式</a:t>
            </a:r>
            <a:br>
              <a:rPr lang="en-US" sz="1800" b="0" i="0" u="none" strike="noStrike">
                <a:solidFill>
                  <a:srgbClr val="FFFFFF">
                    <a:alpha val="94902"/>
                  </a:srgbClr>
                </a:solidFill>
                <a:latin typeface="Songti SC"/>
                <a:ea typeface="Songti SC"/>
                <a:cs typeface="Songti SC"/>
                <a:sym typeface="Songti SC"/>
              </a:rPr>
            </a:br>
            <a:r>
              <a:rPr lang="en-US" sz="1800" b="0" i="0" u="none" strike="noStrike">
                <a:solidFill>
                  <a:srgbClr val="FFFFFF">
                    <a:alpha val="90196"/>
                  </a:srgbClr>
                </a:solidFill>
                <a:latin typeface="Songti SC"/>
                <a:ea typeface="Songti SC"/>
                <a:cs typeface="Songti SC"/>
                <a:sym typeface="Songti SC"/>
              </a:rPr>
              <a:t>构建“硬件销售 + 软件授权订阅 + 行业场景定制服务”的多元收入组合，兼具高毛利特性与高客单价潜力。</a:t>
            </a:r>
            <a:endParaRPr lang="en-US" sz="1800" b="0" i="0" u="none" strike="noStrike">
              <a:solidFill>
                <a:srgbClr val="FFFFFF">
                  <a:alpha val="90196"/>
                </a:srgbClr>
              </a:solidFill>
              <a:latin typeface="Songti SC"/>
              <a:ea typeface="Songti SC"/>
              <a:cs typeface="Songti SC"/>
              <a:sym typeface="Songti SC"/>
            </a:endParaRPr>
          </a:p>
          <a:p>
            <a:pPr indent="0" algn="l">
              <a:lnSpc>
                <a:spcPct val="117000"/>
              </a:lnSpc>
              <a:spcBef>
                <a:spcPts val="2500"/>
              </a:spcBef>
            </a:pPr>
            <a:r>
              <a:rPr lang="en-US" sz="2200" b="1" i="0" u="none" strike="noStrike">
                <a:solidFill>
                  <a:srgbClr val="FFD7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▍ 极高的竞争壁垒</a:t>
            </a:r>
            <a:br>
              <a:rPr lang="en-US" sz="1800" b="0" i="0" u="none" strike="noStrike">
                <a:solidFill>
                  <a:srgbClr val="FFFFFF">
                    <a:alpha val="94902"/>
                  </a:srgbClr>
                </a:solidFill>
                <a:latin typeface="Songti SC"/>
                <a:ea typeface="Songti SC"/>
                <a:cs typeface="Songti SC"/>
                <a:sym typeface="Songti SC"/>
              </a:rPr>
            </a:br>
            <a:r>
              <a:rPr lang="en-US" sz="1800" b="0" i="0" u="none" strike="noStrike">
                <a:solidFill>
                  <a:srgbClr val="FFFFFF">
                    <a:alpha val="90196"/>
                  </a:srgbClr>
                </a:solidFill>
                <a:latin typeface="Songti SC"/>
                <a:ea typeface="Songti SC"/>
                <a:cs typeface="Songti SC"/>
                <a:sym typeface="Songti SC"/>
              </a:rPr>
              <a:t>通过“专用硬件底座+垂直领域模型+本地化服务网络”的软硬一体化闭环，构建技术护城河与深厚的生态壁垒，后来者难以模仿超越。</a:t>
            </a:r>
            <a:endParaRPr lang="en-US" sz="1800" b="0" i="0" u="none" strike="noStrike">
              <a:solidFill>
                <a:srgbClr val="FFFFFF">
                  <a:alpha val="90196"/>
                </a:srgbClr>
              </a:solidFill>
              <a:latin typeface="Songti SC"/>
              <a:ea typeface="Songti SC"/>
              <a:cs typeface="Songti SC"/>
              <a:sym typeface="Songti SC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762000"/>
            <a:ext cx="1066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未来规划：从原型到商业化落地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286000"/>
            <a:ext cx="3302000" cy="3937000"/>
          </a:xfrm>
          <a:prstGeom prst="roundRect">
            <a:avLst>
              <a:gd name="adj" fmla="val 4615"/>
            </a:avLst>
          </a:prstGeom>
          <a:solidFill>
            <a:srgbClr val="1E293B">
              <a:alpha val="75000"/>
            </a:srgbClr>
          </a:solidFill>
          <a:ln w="25400" cap="flat" cmpd="sng">
            <a:solidFill>
              <a:srgbClr val="60A5FA">
                <a:alpha val="8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603500"/>
            <a:ext cx="457200" cy="4572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651000" y="2540000"/>
            <a:ext cx="215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短期 (1-6个月)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3556000"/>
            <a:ext cx="29210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优化核心算法，提升识别准确率和模型性能，夯实技术底座。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完善产品交互体验，完成内测并准备 Beta 版本，邀请种子用户参与验证。</a:t>
            </a:r>
            <a:endParaRPr lang="en-US" sz="1400" b="0" i="0" u="none" strike="noStrike">
              <a:solidFill>
                <a:srgbClr val="E2E8F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4445000" y="2286000"/>
            <a:ext cx="3302000" cy="3937000"/>
          </a:xfrm>
          <a:prstGeom prst="roundRect">
            <a:avLst>
              <a:gd name="adj" fmla="val 4615"/>
            </a:avLst>
          </a:prstGeom>
          <a:solidFill>
            <a:srgbClr val="1E293B">
              <a:alpha val="75000"/>
            </a:srgbClr>
          </a:solidFill>
          <a:ln w="25400" cap="flat" cmpd="sng">
            <a:solidFill>
              <a:srgbClr val="34D399">
                <a:alpha val="8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9000" y="2603500"/>
            <a:ext cx="457200" cy="4572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5334000" y="2540000"/>
            <a:ext cx="215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中期 (6-18个月)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635500" y="3556000"/>
            <a:ext cx="29210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推出正式商用版本，精准切入金融、医疗等核心目标行业，完成标杆客户交付。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开发多节点边缘集群与多设备协同功能，大幅提升系统处理规模与效率。</a:t>
            </a:r>
            <a:endParaRPr lang="en-US" sz="1400" b="0" i="0" u="none" strike="noStrike">
              <a:solidFill>
                <a:srgbClr val="E2E8F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8128000" y="2286000"/>
            <a:ext cx="3302000" cy="3937000"/>
          </a:xfrm>
          <a:prstGeom prst="roundRect">
            <a:avLst>
              <a:gd name="adj" fmla="val 4615"/>
            </a:avLst>
          </a:prstGeom>
          <a:solidFill>
            <a:srgbClr val="1E293B">
              <a:alpha val="75000"/>
            </a:srgbClr>
          </a:solidFill>
          <a:ln w="25400" cap="flat" cmpd="sng">
            <a:solidFill>
              <a:srgbClr val="FBBF24">
                <a:alpha val="8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82000" y="2603500"/>
            <a:ext cx="457200" cy="4572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9017000" y="2540000"/>
            <a:ext cx="215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长期 (18个月以上)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318500" y="3556000"/>
            <a:ext cx="29210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启动全球化战略，拓展海外市场，建立本地化运营与服务体系，实现规模化商业推广。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构建开放、安全的隐私AI 生态，推动技术标准化，成为行业标准的核心制定者与领导者。</a:t>
            </a:r>
            <a:endParaRPr lang="en-US" sz="1400" b="0" i="0" u="none" strike="noStrike">
              <a:solidFill>
                <a:srgbClr val="E2E8F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524000" y="1905000"/>
            <a:ext cx="9144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7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感谢观看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4318000"/>
            <a:ext cx="10160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17000"/>
              </a:lnSpc>
              <a:defRPr/>
            </a:pPr>
            <a:r>
              <a:rPr lang="en-US" sz="2600" b="0" i="0" u="none" strike="noStrike">
                <a:solidFill>
                  <a:srgbClr val="FFFFFF">
                    <a:alpha val="9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隐私优先，本地智能</a:t>
            </a:r>
            <a:br>
              <a:rPr lang="en-US" sz="2600" b="0" i="0" u="none" strike="noStrike">
                <a:solidFill>
                  <a:srgbClr val="FFFFFF">
                    <a:alpha val="9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2600" b="0" i="0" u="none" strike="noStrike">
                <a:solidFill>
                  <a:srgbClr val="FFFFFF">
                    <a:alpha val="9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让高价值数据安全可控、高效增值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3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4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3836</Words>
  <Application>WPS 演示</Application>
  <PresentationFormat/>
  <Paragraphs>197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6</vt:i4>
      </vt:variant>
      <vt:variant>
        <vt:lpstr>幻灯片标题</vt:lpstr>
      </vt:variant>
      <vt:variant>
        <vt:i4>15</vt:i4>
      </vt:variant>
    </vt:vector>
  </HeadingPairs>
  <TitlesOfParts>
    <vt:vector size="32" baseType="lpstr">
      <vt:lpstr>Arial</vt:lpstr>
      <vt:lpstr>宋体</vt:lpstr>
      <vt:lpstr>Wingdings</vt:lpstr>
      <vt:lpstr>Arial</vt:lpstr>
      <vt:lpstr>Noto Sans SC</vt:lpstr>
      <vt:lpstr>Songti SC</vt:lpstr>
      <vt:lpstr>Segoe Print</vt:lpstr>
      <vt:lpstr>Calibri</vt:lpstr>
      <vt:lpstr>微软雅黑</vt:lpstr>
      <vt:lpstr>Arial Black</vt:lpstr>
      <vt:lpstr>Arial Unicode MS</vt:lpstr>
      <vt:lpstr>Office 主题​​</vt:lpstr>
      <vt:lpstr>默认主题</vt:lpstr>
      <vt:lpstr>1_默认主题</vt:lpstr>
      <vt:lpstr>2_默认主题</vt:lpstr>
      <vt:lpstr>3_默认主题</vt:lpstr>
      <vt:lpstr>4_默认主题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Chart.LSH</cp:lastModifiedBy>
  <cp:revision>2</cp:revision>
  <dcterms:created xsi:type="dcterms:W3CDTF">2026-05-10T13:55:00Z</dcterms:created>
  <dcterms:modified xsi:type="dcterms:W3CDTF">2026-05-10T13:56:49Z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0BDB62A14CB549D3A98A836F04D34B96_13</vt:lpwstr>
  </property>
  <property fmtid="{D5CDD505-2E9C-101B-9397-08002B2CF9AE}" pid="3" name="KSOProductBuildVer">
    <vt:lpwstr>2052-12.1.0.21915</vt:lpwstr>
  </property>
</Properties>
</file>