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</p:sldMasterIdLst>
  <p:notesMasterIdLst>
    <p:notesMasterId r:id="rId11"/>
  </p:notesMasterIdLst>
  <p:sldIdLst>
    <p:sldId id="263" r:id="rId10"/>
    <p:sldId id="264" r:id="rId12"/>
    <p:sldId id="273" r:id="rId13"/>
    <p:sldId id="265" r:id="rId14"/>
    <p:sldId id="272" r:id="rId15"/>
    <p:sldId id="266" r:id="rId16"/>
    <p:sldId id="267" r:id="rId17"/>
    <p:sldId id="268" r:id="rId18"/>
    <p:sldId id="284" r:id="rId19"/>
    <p:sldId id="282" r:id="rId20"/>
    <p:sldId id="285" r:id="rId21"/>
    <p:sldId id="276" r:id="rId22"/>
    <p:sldId id="269" r:id="rId23"/>
    <p:sldId id="281" r:id="rId24"/>
    <p:sldId id="280" r:id="rId25"/>
    <p:sldId id="283" r:id="rId26"/>
    <p:sldId id="270" r:id="rId27"/>
    <p:sldId id="271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62" userDrawn="1">
          <p15:clr>
            <a:srgbClr val="747775"/>
          </p15:clr>
        </p15:guide>
        <p15:guide id="2" pos="283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62"/>
        <p:guide pos="283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0" Type="http://schemas.openxmlformats.org/officeDocument/2006/relationships/slide" Target="slides/slide10.xml"/><Relationship Id="rId2" Type="http://schemas.openxmlformats.org/officeDocument/2006/relationships/theme" Target="theme/theme1.xml"/><Relationship Id="rId19" Type="http://schemas.openxmlformats.org/officeDocument/2006/relationships/slide" Target="slides/slide9.xml"/><Relationship Id="rId18" Type="http://schemas.openxmlformats.org/officeDocument/2006/relationships/slide" Target="slides/slide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今天我将向大家介绍我们团队（3人小组）开发的一款智能就诊助手——“我的小医陪”。我们致力于通过“一键录音、AI转写、实时同步”的核心功能，解决异地子女对父母就医的担忧，让每一次就医都能让子女安心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介绍将分为五个部分。首先，我们将深入分析项目背景和核心痛点。接着，通过与现有解决方案的对比，展示“我的小医陪”的独特价值。第三部分，我们将揭秘其背后先进、健壮的技术框架。然后，展示我们已经取得的阶段性成果。最后，展望产品的预期效果和深远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>
                <a:solidFill>
                  <a:srgbClr val="000000"/>
                </a:solidFill>
                <a:sym typeface="+mn-ea"/>
              </a:rPr>
              <a:t>首先来看我们的产品定位。“我的小医陪”精准聚焦于银发群体，旨在成为他们的智能就诊记忆助手。我们的核心价值在于，利用AI技术将医生的口头医嘱和诊断信息，转化为清晰、结构化的文字记录，帮助老人记住关键信息，也让子女能远程了解情况，实现真正的安心陪伴。</a:t>
            </a:r>
            <a:r>
              <a:rPr lang="zh-CN" altLang="en-US" b="0" i="0" u="none" strike="noStrike">
                <a:solidFill>
                  <a:srgbClr val="000000"/>
                </a:solidFill>
              </a:rPr>
              <a:t>陪诊宝是一款面向银发群体的智能就诊助手，核心模式为「子女装好、老人自己用」。老人就诊全程只需按一个大按钮录音，系统自动将医生诊断转写、提炼并推送给子女，实现远程家属的实时知情与安心。</a:t>
            </a:r>
            <a:endParaRPr lang="zh-CN" altLang="en-US" b="0" i="0" u="none" strike="noStrike">
              <a:solidFill>
                <a:srgbClr val="000000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，就医场景存在着三大核心痛点。对于老人，是记不住、说不清；对于子女，是不知情、问不清，时刻悬着一颗心；对于医生，则是沟通成本高、效率低。这些痛点共同导致了信息断层、数字鸿沟和家庭健康档案缺失三大核心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痛点如果不解决，会带来严重的负面影响：老人用药依从性风险、家庭关系焦虑以及医疗资源的浪费。因此，我们推导出三方的核心需求：老人需要极简操作和智能记忆，子女需要实时知情以缓解焦虑，医生则需要准确的病史来提升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与传统的陪诊平台相比，我们的优势是颠覆性的。传统平台做的是“派人陪着看病”的服务业，成本高、难复制。而“我的小医陪”做的是“用AI代替人陪同”的产品，边际成本几乎为零，可以无限复制。我们解决的是信息传递的核心痛点，这是一个完全不同的战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技术框架是一个清晰的端-云-AI三层协同架构。端侧分为极简的老人端和功能完整的子女端，分别满足不同人群的需求；云侧基于微信云开发，利用云函数链和云存储构建了高效的后端处理系统；AI侧则精准嵌入了讯飞语音识别和Claude API两大外部能力，实现了“语音转文字”和“长文本结构化摘要”的核心功能。整个架构最大的亮点在于采用了Serverless免运维模式，让我们能专注于业务开发，同时实现了AI技术的工程化落地，并通过架构、边界和协作三层保障确保了系统的稳定运行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目前，老人端和子女端的核心模块均已完成开发，实现了从录音到AI摘要再到微信推送的全链路贯通。所有云服务均已部署，并通过了初步的内测验证。我们的交付物包括一个可完整演示的Demo、详细的文档以及宝贵的内测数据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目前，老人端和子女端的核心模块均已完成开发，实现了从录音到AI摘要再到微信推送的全链路贯通。所有云服务均已部署，并通过了初步的内测验证。我们的交付物包括一个可完整演示的Demo、详细的文档以及宝贵的内测数据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目前，老人端和子女端的核心模块均已完成开发，实现了从录音到AI摘要再到微信推送的全链路贯通。所有云服务均已部署，并通过了初步的内测验证。我们的交付物包括一个可完整演示的Demo、详细的文档以及宝贵的内测数据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目前，老人端和子女端的核心模块均已完成开发，实现了从录音到AI摘要再到微信推送的全链路贯通。所有云服务均已部署，并通过了初步的内测验证。我们的交付物包括一个可完整演示的Demo、详细的文档以及宝贵的内测数据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目前，老人端和子女端的核心模块均已完成开发，实现了从录音到AI摘要再到微信推送的全链路贯通。所有云服务均已部署，并通过了初步的内测验证。我们的交付物包括一个可完整演示的Demo、详细的文档以及宝贵的内测数据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对产品的效果有清晰的量化目标。操作上，老人全程不超过5步；效率上，AI摘要生成时间小于15秒；准确率上，普通话转写达到95%以上。这些指标共同构成了我们的核心价值：让老人看得懂、子女放得心、医生更高效，并为每个家庭沉淀宝贵的健康数据资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最后，我想说，“我的小医陪”的核心价值是让陪伴不受距离的限制。科技的意义在于服务于人，我们希望通过这款产品，为千万家庭带去安心与温暖。我的介绍到此结束，谢谢大家！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8" Type="http://schemas.openxmlformats.org/officeDocument/2006/relationships/notesSlide" Target="../notesSlides/notesSlide2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0" Type="http://schemas.openxmlformats.org/officeDocument/2006/relationships/notesSlide" Target="../notesSlides/notesSlide3.xml"/><Relationship Id="rId2" Type="http://schemas.openxmlformats.org/officeDocument/2006/relationships/tags" Target="../tags/tag38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image" Target="../media/image6.svg"/><Relationship Id="rId15" Type="http://schemas.openxmlformats.org/officeDocument/2006/relationships/image" Target="../media/image5.png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image" Target="../media/image4.svg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0" Type="http://schemas.openxmlformats.org/officeDocument/2006/relationships/notesSlide" Target="../notesSlides/notesSlide4.xml"/><Relationship Id="rId2" Type="http://schemas.openxmlformats.org/officeDocument/2006/relationships/tags" Target="../tags/tag50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image" Target="../media/image12.svg"/><Relationship Id="rId15" Type="http://schemas.openxmlformats.org/officeDocument/2006/relationships/image" Target="../media/image11.png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image" Target="../media/image10.svg"/><Relationship Id="rId1" Type="http://schemas.openxmlformats.org/officeDocument/2006/relationships/tags" Target="../tags/tag4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image" Target="../media/image14.svg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72.xml"/><Relationship Id="rId23" Type="http://schemas.openxmlformats.org/officeDocument/2006/relationships/image" Target="../media/image24.svg"/><Relationship Id="rId22" Type="http://schemas.openxmlformats.org/officeDocument/2006/relationships/image" Target="../media/image23.png"/><Relationship Id="rId21" Type="http://schemas.openxmlformats.org/officeDocument/2006/relationships/tags" Target="../tags/tag71.xml"/><Relationship Id="rId20" Type="http://schemas.openxmlformats.org/officeDocument/2006/relationships/tags" Target="../tags/tag70.xml"/><Relationship Id="rId2" Type="http://schemas.openxmlformats.org/officeDocument/2006/relationships/image" Target="../media/image13.png"/><Relationship Id="rId19" Type="http://schemas.openxmlformats.org/officeDocument/2006/relationships/image" Target="../media/image22.svg"/><Relationship Id="rId18" Type="http://schemas.openxmlformats.org/officeDocument/2006/relationships/image" Target="../media/image21.png"/><Relationship Id="rId17" Type="http://schemas.openxmlformats.org/officeDocument/2006/relationships/tags" Target="../tags/tag69.xml"/><Relationship Id="rId16" Type="http://schemas.openxmlformats.org/officeDocument/2006/relationships/tags" Target="../tags/tag68.xml"/><Relationship Id="rId15" Type="http://schemas.openxmlformats.org/officeDocument/2006/relationships/image" Target="../media/image20.svg"/><Relationship Id="rId14" Type="http://schemas.openxmlformats.org/officeDocument/2006/relationships/image" Target="../media/image19.png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tags" Target="../tags/tag6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6.svg"/><Relationship Id="rId11" Type="http://schemas.openxmlformats.org/officeDocument/2006/relationships/image" Target="../media/image35.png"/><Relationship Id="rId10" Type="http://schemas.openxmlformats.org/officeDocument/2006/relationships/image" Target="../media/image34.sv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svg"/><Relationship Id="rId7" Type="http://schemas.openxmlformats.org/officeDocument/2006/relationships/image" Target="../media/image56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5.svg"/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61.svg"/><Relationship Id="rId11" Type="http://schemas.openxmlformats.org/officeDocument/2006/relationships/image" Target="../media/image60.png"/><Relationship Id="rId10" Type="http://schemas.openxmlformats.org/officeDocument/2006/relationships/image" Target="../media/image59.svg"/><Relationship Id="rId1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>
                <a:alpha val="100000"/>
              </a:srgbClr>
            </a:gs>
            <a:gs pos="100000">
              <a:srgbClr val="0F17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778000"/>
            <a:ext cx="12192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我的小医陪 · 智能就诊助手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197225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一键录音 · AI转写 · 实时同步 · 让子女安心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3180" y="4318000"/>
            <a:ext cx="1219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0" y="5842000"/>
            <a:ext cx="2032000" cy="50800"/>
          </a:xfrm>
          <a:prstGeom prst="roundRect">
            <a:avLst>
              <a:gd name="adj" fmla="val 0"/>
            </a:avLst>
          </a:prstGeom>
          <a:solidFill>
            <a:srgbClr val="10B9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文本框 5"/>
          <p:cNvSpPr txBox="1"/>
          <p:nvPr/>
        </p:nvSpPr>
        <p:spPr>
          <a:xfrm>
            <a:off x="3789680" y="4362450"/>
            <a:ext cx="4612640" cy="546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小组成员</a:t>
            </a:r>
            <a:r>
              <a:rPr lang="zh-CN" altLang="en-US" sz="2000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：黄钰婷、李雨馨、</a:t>
            </a:r>
            <a:r>
              <a:rPr lang="zh-CN" altLang="en-US" sz="2000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周晓珊</a:t>
            </a:r>
            <a:endParaRPr lang="zh-CN" altLang="en-US" sz="2000">
              <a:solidFill>
                <a:srgbClr val="E5E7EB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032000" y="76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16510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1651000" cy="762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540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762000" y="3683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产品定位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270000" y="4572000"/>
            <a:ext cx="635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762000" y="5080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核心价值与定位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2603500" y="2032000"/>
            <a:ext cx="16510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2603500" y="2032000"/>
            <a:ext cx="1651000" cy="762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2603500" y="2540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2603500" y="3683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3111500" y="4572000"/>
            <a:ext cx="635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2603500" y="5080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用户痛点分析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4445000" y="2032000"/>
            <a:ext cx="16510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4445000" y="2032000"/>
            <a:ext cx="1651000" cy="762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4445000" y="2540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4445000" y="3683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市场需求与竞争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4953000" y="4572000"/>
            <a:ext cx="635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4445000" y="5080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市场与竞品格局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9"/>
            </p:custDataLst>
          </p:nvPr>
        </p:nvSpPr>
        <p:spPr>
          <a:xfrm>
            <a:off x="6286500" y="2032000"/>
            <a:ext cx="16510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0"/>
            </p:custDataLst>
          </p:nvPr>
        </p:nvSpPr>
        <p:spPr>
          <a:xfrm>
            <a:off x="6286500" y="2032000"/>
            <a:ext cx="1651000" cy="762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6286500" y="2540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22"/>
            </p:custDataLst>
          </p:nvPr>
        </p:nvSpPr>
        <p:spPr>
          <a:xfrm>
            <a:off x="6286500" y="3683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技术框架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23"/>
            </p:custDataLst>
          </p:nvPr>
        </p:nvSpPr>
        <p:spPr>
          <a:xfrm>
            <a:off x="6794500" y="4572000"/>
            <a:ext cx="635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24"/>
            </p:custDataLst>
          </p:nvPr>
        </p:nvSpPr>
        <p:spPr>
          <a:xfrm>
            <a:off x="6286500" y="5080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技术架构解析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25"/>
            </p:custDataLst>
          </p:nvPr>
        </p:nvSpPr>
        <p:spPr>
          <a:xfrm>
            <a:off x="8128000" y="2032000"/>
            <a:ext cx="16510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>
            <p:custDataLst>
              <p:tags r:id="rId26"/>
            </p:custDataLst>
          </p:nvPr>
        </p:nvSpPr>
        <p:spPr>
          <a:xfrm>
            <a:off x="8128000" y="2032000"/>
            <a:ext cx="1651000" cy="762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>
            <p:custDataLst>
              <p:tags r:id="rId27"/>
            </p:custDataLst>
          </p:nvPr>
        </p:nvSpPr>
        <p:spPr>
          <a:xfrm>
            <a:off x="8128000" y="2540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1" name="AutoShape 31"/>
          <p:cNvSpPr/>
          <p:nvPr>
            <p:custDataLst>
              <p:tags r:id="rId28"/>
            </p:custDataLst>
          </p:nvPr>
        </p:nvSpPr>
        <p:spPr>
          <a:xfrm>
            <a:off x="8128000" y="3683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</a:t>
            </a:r>
            <a:r>
              <a:rPr lang="zh-CN" alt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</a:t>
            </a:r>
            <a:endParaRPr lang="zh-CN" altLang="en-US" sz="16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>
            <p:custDataLst>
              <p:tags r:id="rId29"/>
            </p:custDataLst>
          </p:nvPr>
        </p:nvSpPr>
        <p:spPr>
          <a:xfrm>
            <a:off x="8636000" y="4572000"/>
            <a:ext cx="635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>
            <p:custDataLst>
              <p:tags r:id="rId30"/>
            </p:custDataLst>
          </p:nvPr>
        </p:nvSpPr>
        <p:spPr>
          <a:xfrm>
            <a:off x="8128000" y="5080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阶段成果展示</a:t>
            </a:r>
            <a:endParaRPr lang="en-US" sz="1100"/>
          </a:p>
        </p:txBody>
      </p:sp>
      <p:sp>
        <p:nvSpPr>
          <p:cNvPr id="34" name="AutoShape 34"/>
          <p:cNvSpPr/>
          <p:nvPr>
            <p:custDataLst>
              <p:tags r:id="rId31"/>
            </p:custDataLst>
          </p:nvPr>
        </p:nvSpPr>
        <p:spPr>
          <a:xfrm>
            <a:off x="9969500" y="2032000"/>
            <a:ext cx="16510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>
            <p:custDataLst>
              <p:tags r:id="rId32"/>
            </p:custDataLst>
          </p:nvPr>
        </p:nvSpPr>
        <p:spPr>
          <a:xfrm>
            <a:off x="9969500" y="2032000"/>
            <a:ext cx="1651000" cy="762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>
            <p:custDataLst>
              <p:tags r:id="rId33"/>
            </p:custDataLst>
          </p:nvPr>
        </p:nvSpPr>
        <p:spPr>
          <a:xfrm>
            <a:off x="9969500" y="25400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7" name="AutoShape 37"/>
          <p:cNvSpPr/>
          <p:nvPr>
            <p:custDataLst>
              <p:tags r:id="rId34"/>
            </p:custDataLst>
          </p:nvPr>
        </p:nvSpPr>
        <p:spPr>
          <a:xfrm>
            <a:off x="9969500" y="3683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预计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</a:t>
            </a:r>
            <a:endParaRPr lang="en-US" sz="1100"/>
          </a:p>
        </p:txBody>
      </p:sp>
      <p:sp>
        <p:nvSpPr>
          <p:cNvPr id="38" name="AutoShape 38"/>
          <p:cNvSpPr/>
          <p:nvPr>
            <p:custDataLst>
              <p:tags r:id="rId35"/>
            </p:custDataLst>
          </p:nvPr>
        </p:nvSpPr>
        <p:spPr>
          <a:xfrm>
            <a:off x="10477500" y="4572000"/>
            <a:ext cx="635000" cy="254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>
            <p:custDataLst>
              <p:tags r:id="rId36"/>
            </p:custDataLst>
          </p:nvPr>
        </p:nvSpPr>
        <p:spPr>
          <a:xfrm>
            <a:off x="9969500" y="5080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量化目标与价值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762000" y="143637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为银发群体打造的智能就诊记忆助手 —— 我的小医陪</a:t>
            </a:r>
            <a:endParaRPr lang="en-US" sz="1100"/>
          </a:p>
        </p:txBody>
      </p:sp>
      <p:sp>
        <p:nvSpPr>
          <p:cNvPr id="5" name="AutoShape 4"/>
          <p:cNvSpPr/>
          <p:nvPr>
            <p:custDataLst>
              <p:tags r:id="rId1"/>
            </p:custDataLst>
          </p:nvPr>
        </p:nvSpPr>
        <p:spPr>
          <a:xfrm>
            <a:off x="636270" y="2515416"/>
            <a:ext cx="3343275" cy="3086100"/>
          </a:xfrm>
          <a:prstGeom prst="roundRect">
            <a:avLst>
              <a:gd name="adj" fmla="val 0"/>
            </a:avLst>
          </a:prstGeom>
          <a:solidFill>
            <a:srgbClr val="F0F5FF">
              <a:alpha val="100000"/>
            </a:srgbClr>
          </a:solidFill>
          <a:ln w="12700" cap="flat" cmpd="sng">
            <a:solidFill>
              <a:srgbClr val="1E3A8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445" y="2836885"/>
            <a:ext cx="514350" cy="514350"/>
          </a:xfrm>
          <a:prstGeom prst="rect">
            <a:avLst/>
          </a:prstGeom>
        </p:spPr>
      </p:pic>
      <p:sp>
        <p:nvSpPr>
          <p:cNvPr id="7" name="AutoShape 6"/>
          <p:cNvSpPr/>
          <p:nvPr>
            <p:custDataLst>
              <p:tags r:id="rId5"/>
            </p:custDataLst>
          </p:nvPr>
        </p:nvSpPr>
        <p:spPr>
          <a:xfrm>
            <a:off x="1600676" y="2836885"/>
            <a:ext cx="2185987" cy="5143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痛点直击 · 聚焦银发</a:t>
            </a:r>
            <a:endParaRPr lang="en-US" sz="1100"/>
          </a:p>
        </p:txBody>
      </p:sp>
      <p:sp>
        <p:nvSpPr>
          <p:cNvPr id="8" name="AutoShape 7"/>
          <p:cNvSpPr/>
          <p:nvPr>
            <p:custDataLst>
              <p:tags r:id="rId6"/>
            </p:custDataLst>
          </p:nvPr>
        </p:nvSpPr>
        <p:spPr>
          <a:xfrm>
            <a:off x="893445" y="3672704"/>
            <a:ext cx="2828925" cy="16716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专注解决老年人在就医问诊过程中因听力、理解、记忆力衰退而导致的信息断层问题，填补医疗场景中针对老年群体的信息留存与辅助的空白市场。</a:t>
            </a:r>
            <a:endParaRPr lang="en-US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8"/>
          <p:cNvSpPr/>
          <p:nvPr>
            <p:custDataLst>
              <p:tags r:id="rId7"/>
            </p:custDataLst>
          </p:nvPr>
        </p:nvSpPr>
        <p:spPr>
          <a:xfrm>
            <a:off x="4365308" y="2515416"/>
            <a:ext cx="3343275" cy="3086100"/>
          </a:xfrm>
          <a:prstGeom prst="roundRect">
            <a:avLst>
              <a:gd name="adj" fmla="val 0"/>
            </a:avLst>
          </a:prstGeom>
          <a:solidFill>
            <a:srgbClr val="ECFDFA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2483" y="2836885"/>
            <a:ext cx="514350" cy="514350"/>
          </a:xfrm>
          <a:prstGeom prst="rect">
            <a:avLst/>
          </a:prstGeom>
        </p:spPr>
      </p:pic>
      <p:sp>
        <p:nvSpPr>
          <p:cNvPr id="11" name="AutoShape 10"/>
          <p:cNvSpPr/>
          <p:nvPr>
            <p:custDataLst>
              <p:tags r:id="rId11"/>
            </p:custDataLst>
          </p:nvPr>
        </p:nvSpPr>
        <p:spPr>
          <a:xfrm>
            <a:off x="5329714" y="2836885"/>
            <a:ext cx="2185987" cy="5143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双重角色 · 价值连接</a:t>
            </a:r>
            <a:endParaRPr lang="en-US" sz="1100"/>
          </a:p>
        </p:txBody>
      </p:sp>
      <p:sp>
        <p:nvSpPr>
          <p:cNvPr id="12" name="AutoShape 11"/>
          <p:cNvSpPr/>
          <p:nvPr>
            <p:custDataLst>
              <p:tags r:id="rId12"/>
            </p:custDataLst>
          </p:nvPr>
        </p:nvSpPr>
        <p:spPr>
          <a:xfrm>
            <a:off x="4622483" y="3672704"/>
            <a:ext cx="2828925" cy="16716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为老人提供可靠的</a:t>
            </a:r>
            <a:r>
              <a:rPr lang="en-US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“智能记忆助手”</a:t>
            </a:r>
            <a:r>
              <a:rPr lang="en-US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，解决忘性大的难题；同时搭建子女与老人之间的</a:t>
            </a:r>
            <a:r>
              <a:rPr lang="en-US" b="1" i="0" u="none" strike="noStrike">
                <a:solidFill>
                  <a:srgbClr val="0D9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“远程安心桥”</a:t>
            </a:r>
            <a:r>
              <a:rPr lang="en-US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，打破物理距离限制，实现跨越时空的实时关怀。</a:t>
            </a:r>
            <a:endParaRPr lang="en-US"/>
          </a:p>
        </p:txBody>
      </p:sp>
      <p:sp>
        <p:nvSpPr>
          <p:cNvPr id="13" name="AutoShape 12"/>
          <p:cNvSpPr/>
          <p:nvPr>
            <p:custDataLst>
              <p:tags r:id="rId13"/>
            </p:custDataLst>
          </p:nvPr>
        </p:nvSpPr>
        <p:spPr>
          <a:xfrm>
            <a:off x="8094345" y="2515416"/>
            <a:ext cx="3343275" cy="3086100"/>
          </a:xfrm>
          <a:prstGeom prst="roundRect">
            <a:avLst>
              <a:gd name="adj" fmla="val 0"/>
            </a:avLst>
          </a:prstGeom>
          <a:solidFill>
            <a:srgbClr val="F0F5FF">
              <a:alpha val="100000"/>
            </a:srgbClr>
          </a:solidFill>
          <a:ln w="12700" cap="flat" cmpd="sng">
            <a:solidFill>
              <a:srgbClr val="1E3A8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51520" y="2836885"/>
            <a:ext cx="514350" cy="514350"/>
          </a:xfrm>
          <a:prstGeom prst="rect">
            <a:avLst/>
          </a:prstGeom>
        </p:spPr>
      </p:pic>
      <p:sp>
        <p:nvSpPr>
          <p:cNvPr id="15" name="AutoShape 14"/>
          <p:cNvSpPr/>
          <p:nvPr>
            <p:custDataLst>
              <p:tags r:id="rId17"/>
            </p:custDataLst>
          </p:nvPr>
        </p:nvSpPr>
        <p:spPr>
          <a:xfrm>
            <a:off x="9058751" y="2836885"/>
            <a:ext cx="2185987" cy="5143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技术赋能 · 高效转化</a:t>
            </a:r>
            <a:endParaRPr lang="en-US" sz="1100"/>
          </a:p>
        </p:txBody>
      </p:sp>
      <p:sp>
        <p:nvSpPr>
          <p:cNvPr id="16" name="AutoShape 15"/>
          <p:cNvSpPr/>
          <p:nvPr>
            <p:custDataLst>
              <p:tags r:id="rId18"/>
            </p:custDataLst>
          </p:nvPr>
        </p:nvSpPr>
        <p:spPr>
          <a:xfrm>
            <a:off x="8351520" y="3672704"/>
            <a:ext cx="2828925" cy="16716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利用AI技术将口语化、碎片化的医患对话，快速转化为结构化、条理清晰的电子就诊档案。打破医患沟通中的隐形信息壁垒，切实提升老人的就医效率，优化家庭的健康管理体验。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82169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6095" y="125095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482022" y="1520377"/>
            <a:ext cx="3388660" cy="5107753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688" y="1781043"/>
            <a:ext cx="469199" cy="469199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394354" y="1754976"/>
            <a:ext cx="2215662" cy="521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老人痛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742688" y="2369497"/>
            <a:ext cx="2867328" cy="341016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342900" indent="-342900" algn="l">
              <a:lnSpc>
                <a:spcPct val="108000"/>
              </a:lnSpc>
              <a:buFont typeface="Wingdings" panose="05000000000000000000" charset="0"/>
              <a:buChar char="l"/>
              <a:defRPr/>
            </a:pPr>
            <a:r>
              <a:rPr lang="zh-CN" altLang="en-US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记忆遗忘：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看完病记不住诊断结果与专业医嘱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08000"/>
              </a:lnSpc>
              <a:buFont typeface="Wingdings" panose="05000000000000000000" charset="0"/>
              <a:buChar char="l"/>
              <a:defRPr/>
            </a:pP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08000"/>
              </a:lnSpc>
              <a:buFont typeface="Wingdings" panose="05000000000000000000" charset="0"/>
              <a:buChar char="l"/>
              <a:defRPr/>
            </a:pPr>
            <a:r>
              <a:rPr lang="zh-CN" altLang="en-US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复诊困难：</a:t>
            </a:r>
            <a:r>
              <a:rPr 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回家说不清楚，复诊时找不到上次的资料。</a:t>
            </a:r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4261681" y="1520377"/>
            <a:ext cx="3388660" cy="5107753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22347" y="1781043"/>
            <a:ext cx="469199" cy="469199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5174013" y="1754976"/>
            <a:ext cx="2215662" cy="521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子女痛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4522470" y="2128520"/>
            <a:ext cx="2867025" cy="365061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buSzTx/>
              <a:buFont typeface="Wingdings" panose="05000000000000000000" charset="0"/>
              <a:buNone/>
              <a:defRPr/>
            </a:pPr>
            <a:endParaRPr lang="zh-CN" alt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buSzTx/>
              <a:buFont typeface="Wingdings" panose="05000000000000000000" charset="0"/>
              <a:buNone/>
              <a:defRPr/>
            </a:pP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 algn="l">
              <a:lnSpc>
                <a:spcPct val="108000"/>
              </a:lnSpc>
              <a:buSzTx/>
              <a:buFont typeface="Wingdings" panose="05000000000000000000" charset="0"/>
              <a:buChar char="l"/>
              <a:defRPr/>
            </a:pPr>
            <a:r>
              <a:rPr lang="zh-CN" altLang="en-US" sz="18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信息黑盒：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异地/忙碌无法陪诊，打电话问父母，得到的回答永远是“没啥，就开了点药”。</a:t>
            </a: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 algn="l">
              <a:lnSpc>
                <a:spcPct val="108000"/>
              </a:lnSpc>
              <a:buSzTx/>
              <a:buFont typeface="Wingdings" panose="05000000000000000000" charset="0"/>
              <a:buChar char="l"/>
              <a:defRPr/>
            </a:pPr>
            <a:endParaRPr lang="en-US" altLang="zh-CN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 algn="l">
              <a:lnSpc>
                <a:spcPct val="108000"/>
              </a:lnSpc>
              <a:buSzTx/>
              <a:buFont typeface="Wingdings" panose="05000000000000000000" charset="0"/>
              <a:buChar char="l"/>
              <a:defRPr/>
            </a:pPr>
            <a:r>
              <a:rPr lang="zh-CN" altLang="en-US" sz="18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被动担忧：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永远在担心老人口述的病情是否准确，是否遗漏了医嘱，缺乏实时的知情渠道</a:t>
            </a:r>
            <a:r>
              <a:rPr lang="zh-CN" alt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zh-CN" altLang="en-US" sz="16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8041640" y="1520190"/>
            <a:ext cx="3388360" cy="510794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02006" y="1781043"/>
            <a:ext cx="469199" cy="469199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8953672" y="1754976"/>
            <a:ext cx="2215662" cy="521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医生痛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301990" y="2368550"/>
            <a:ext cx="2867025" cy="38144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342900" indent="-342900" algn="l">
              <a:lnSpc>
                <a:spcPct val="108000"/>
              </a:lnSpc>
              <a:buSzTx/>
              <a:buFont typeface="Wingdings" panose="05000000000000000000" charset="0"/>
              <a:buChar char="l"/>
              <a:defRPr/>
            </a:pPr>
            <a:r>
              <a:rPr lang="zh-CN" altLang="en-US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沟通低效：</a:t>
            </a:r>
            <a:endParaRPr lang="zh-CN" altLang="en-US" sz="2000" b="1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08000"/>
              </a:lnSpc>
              <a:buSzTx/>
              <a:defRPr/>
            </a:pPr>
            <a:r>
              <a:rPr 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老人难以准确、有条理地表述既往病史与症状，导致医患沟通成本高、效率低，占用大量本就紧张的诊疗时间。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AutoShape 16"/>
          <p:cNvSpPr/>
          <p:nvPr/>
        </p:nvSpPr>
        <p:spPr>
          <a:xfrm>
            <a:off x="712470" y="1590040"/>
            <a:ext cx="10717530" cy="4378325"/>
          </a:xfrm>
          <a:prstGeom prst="roundRect">
            <a:avLst>
              <a:gd name="adj" fmla="val 75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81380" y="1083310"/>
            <a:ext cx="3317240" cy="4871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信息断层</a:t>
            </a:r>
            <a:endParaRPr lang="en-US" sz="2000" b="1" i="0" u="none" strike="noStrike">
              <a:solidFill>
                <a:srgbClr val="1E3A8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0000"/>
              </a:lnSpc>
              <a:defRPr/>
            </a:pPr>
            <a:endParaRPr lang="en-US" sz="2000" b="1" i="0" u="none" strike="noStrike">
              <a:solidFill>
                <a:srgbClr val="1E3A8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0000"/>
              </a:lnSpc>
              <a:defRPr/>
            </a:pPr>
            <a:endParaRPr lang="en-US" sz="1800" b="1" i="0" u="none" strike="noStrike">
              <a:solidFill>
                <a:srgbClr val="1E3A8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0000"/>
              </a:lnSpc>
              <a:defRPr/>
            </a:pPr>
            <a:endParaRPr lang="en-US" sz="1100"/>
          </a:p>
          <a:p>
            <a:pPr marL="0" indent="457200" algn="l" eaLnBrk="1" fontAlgn="auto" latinLnBrk="0" hangingPunct="1">
              <a:lnSpc>
                <a:spcPct val="133000"/>
              </a:lnSpc>
              <a:defRPr/>
            </a:pPr>
            <a:r>
              <a:rPr lang="en-US" sz="180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医生讲解的内容专业且复杂，老人往往听完就忘，将信息转述给子女时又容易出现偏差，形成了信息传递的“黑盒子”，导致家庭照护无法精准对接医嘱。</a:t>
            </a:r>
            <a:endParaRPr lang="en-US" sz="18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473575" y="2632710"/>
            <a:ext cx="3317240" cy="26314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80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457200" algn="ctr" eaLnBrk="1" fontAlgn="auto" latinLnBrk="0" hangingPunct="1">
              <a:lnSpc>
                <a:spcPct val="150000"/>
              </a:lnSpc>
              <a:defRPr/>
            </a:pPr>
            <a:r>
              <a:rPr lang="en-US" sz="180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医院自助机、线上挂号、缴费等数字化就诊流程对老年人不够友好。复杂的操作界面和流程让他们望而却步，难以独立完成就医的“最后一公里”。</a:t>
            </a:r>
            <a:endParaRPr lang="zh-CN" altLang="en-US" sz="10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>
            <a:off x="7880813" y="1731592"/>
            <a:ext cx="75565" cy="367411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7993380" y="2631440"/>
            <a:ext cx="3317240" cy="28473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800" b="1" i="0" u="none" strike="noStrike">
              <a:solidFill>
                <a:srgbClr val="14B8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457200" algn="l">
              <a:lnSpc>
                <a:spcPct val="133000"/>
              </a:lnSpc>
              <a:buSzTx/>
              <a:defRPr/>
            </a:pPr>
            <a:r>
              <a:rPr lang="en-US" sz="180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纸质病历和检查单分散且容易丢失，难以形成连续、完整的家庭健康档案。家庭成员无法快速掌握老人的过往病史和用药情况，影响医疗决策的效率和准确性。</a:t>
            </a:r>
            <a:endParaRPr lang="en-US" sz="18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" name="Connector 18"/>
          <p:cNvCxnSpPr/>
          <p:nvPr/>
        </p:nvCxnSpPr>
        <p:spPr>
          <a:xfrm rot="5365623">
            <a:off x="132080" y="503685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Connector 20"/>
          <p:cNvCxnSpPr/>
          <p:nvPr/>
        </p:nvCxnSpPr>
        <p:spPr>
          <a:xfrm>
            <a:off x="4307033" y="1768422"/>
            <a:ext cx="75565" cy="371030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痛点背后的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层原因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557895" y="2018030"/>
            <a:ext cx="228346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SzTx/>
              <a:defRPr/>
            </a:pPr>
            <a:r>
              <a:rPr lang="en-US" sz="2000" b="1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🗂️ 档案缺失</a:t>
            </a:r>
            <a:endParaRPr lang="en-US" sz="2000" b="1" i="0" u="none" strike="noStrike">
              <a:solidFill>
                <a:srgbClr val="14B8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164455" y="2018665"/>
            <a:ext cx="201866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 b="1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📱 数字鸿沟</a:t>
            </a:r>
            <a:endParaRPr lang="en-US" b="1" i="0" u="none" strike="noStrike">
              <a:solidFill>
                <a:srgbClr val="14B8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痛点背后的影响与需求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6800" y="20828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连锁负面影响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66800" y="2590800"/>
            <a:ext cx="508000" cy="508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390" y="2983683"/>
            <a:ext cx="461393" cy="461393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679112" y="2932417"/>
            <a:ext cx="3973106" cy="89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依从性风险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老人因记错医嘱，可能吃错药、弄错复诊时间，导致病情延误，甚至引发更严重的健康问题。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390" y="4137165"/>
            <a:ext cx="461393" cy="461393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679112" y="4085900"/>
            <a:ext cx="3973106" cy="89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家庭关系焦虑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子女因信息不对称长期处于“未知焦虑”中，反复追问病情易引发与老人的沟通矛盾。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1390" y="5162483"/>
            <a:ext cx="461393" cy="461393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1679112" y="5111217"/>
            <a:ext cx="3973106" cy="89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医疗资源浪费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关键病情信息缺失导致医生需重复问诊和检查，严重降低诊疗效率，浪费宝贵的医疗资源。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7507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27800" y="20828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E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用户核心需求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27800" y="2590800"/>
            <a:ext cx="508000" cy="50800"/>
          </a:xfrm>
          <a:prstGeom prst="roundRect">
            <a:avLst>
              <a:gd name="adj" fmla="val 0"/>
            </a:avLst>
          </a:prstGeom>
          <a:solidFill>
            <a:srgbClr val="0E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2472" y="2983683"/>
            <a:ext cx="461393" cy="461393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7190194" y="2932417"/>
            <a:ext cx="3973106" cy="89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老人：极简操作、智能记忆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希望按一个按钮就能全程记录病情，复诊时一键展示完整病史，降低记忆和沟通门槛。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72472" y="4137165"/>
            <a:ext cx="461393" cy="461393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7190194" y="4085900"/>
            <a:ext cx="3973106" cy="89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子女：实时知情、缓解焦虑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能够远程及时、准确地获取医生的诊断建议，收到结构化的就诊摘要，消除信息差带来的焦虑。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72472" y="5162483"/>
            <a:ext cx="461393" cy="461393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7190194" y="5111217"/>
            <a:ext cx="3973106" cy="89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医生：准确病史、提升效率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快速获取清晰、完整的患者过往病史，减少重复确认环节，专注于病情诊断，大幅提升问诊效率。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市场需求与竞争格局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5207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1066800" y="1955800"/>
            <a:ext cx="76200" cy="406400"/>
          </a:xfrm>
          <a:prstGeom prst="roundRect">
            <a:avLst>
              <a:gd name="adj" fmla="val 5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320800" y="1905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市场需求与传统陪诊短板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008505"/>
            <a:ext cx="4597400" cy="29444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📈 市场爆发：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2025年市场规模达11.85亿元，但90%以上是“派人陪诊”的传统服务。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行业痛点：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本质是“人的生意”，人力成本高、服务难标准化、跨地域扩张极难。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6223000" y="1651000"/>
            <a:ext cx="5207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6527800" y="1955800"/>
            <a:ext cx="76200" cy="406400"/>
          </a:xfrm>
          <a:prstGeom prst="roundRect">
            <a:avLst>
              <a:gd name="adj" fmla="val 5000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6781800" y="1905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我的小医陪</a:t>
            </a:r>
            <a:r>
              <a:rPr lang="en-US" sz="22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绝对优势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27800" y="2361565"/>
            <a:ext cx="4597400" cy="25914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产品化破局：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用“AI工具”替代人工陪同，解决医患信息传递痛点。边际成本趋近于零，可低成本无限复制，打破物理与人力限制。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1E3A8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5397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核心差异：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别人用“人”做陪诊服务，“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我的小医陪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”用“AI工具”打造远程知情系统，降本增效。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技术框架</a:t>
            </a: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端—云—AI三层协同架构</a:t>
            </a:r>
            <a:endParaRPr lang="zh-CN" alt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3"/>
          <p:cNvSpPr/>
          <p:nvPr/>
        </p:nvSpPr>
        <p:spPr>
          <a:xfrm>
            <a:off x="762000" y="1651000"/>
            <a:ext cx="3302000" cy="3175000"/>
          </a:xfrm>
          <a:prstGeom prst="roundRect">
            <a:avLst>
              <a:gd name="adj" fmla="val 3200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14B8A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38" name="AutoShape 5"/>
          <p:cNvSpPr/>
          <p:nvPr/>
        </p:nvSpPr>
        <p:spPr>
          <a:xfrm>
            <a:off x="1397000" y="180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端侧 · 小程序</a:t>
            </a:r>
            <a:endParaRPr lang="en-US" sz="1100"/>
          </a:p>
        </p:txBody>
      </p:sp>
      <p:sp>
        <p:nvSpPr>
          <p:cNvPr id="39" name="AutoShape 6"/>
          <p:cNvSpPr/>
          <p:nvPr/>
        </p:nvSpPr>
        <p:spPr>
          <a:xfrm>
            <a:off x="952500" y="2413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👨‍🦳 老人端 (极简操作)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适配老人习惯，界面大按钮，支持一键录音、就诊卡快捷展示，大幅降低数字门槛。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👨‍👩‍👧 子女端 (辅助协同)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支持远程查看就诊报告与历史记录，帮助子女跨越距离守护家人健康。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7"/>
          <p:cNvSpPr/>
          <p:nvPr/>
        </p:nvSpPr>
        <p:spPr>
          <a:xfrm>
            <a:off x="4445000" y="1651000"/>
            <a:ext cx="3302000" cy="3175000"/>
          </a:xfrm>
          <a:prstGeom prst="roundRect">
            <a:avLst>
              <a:gd name="adj" fmla="val 3200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14B8A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1841500"/>
            <a:ext cx="304800" cy="304800"/>
          </a:xfrm>
          <a:prstGeom prst="rect">
            <a:avLst/>
          </a:prstGeom>
        </p:spPr>
      </p:pic>
      <p:sp>
        <p:nvSpPr>
          <p:cNvPr id="42" name="AutoShape 9"/>
          <p:cNvSpPr/>
          <p:nvPr/>
        </p:nvSpPr>
        <p:spPr>
          <a:xfrm>
            <a:off x="5080000" y="180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云侧 · 微信云开发</a:t>
            </a:r>
            <a:endParaRPr lang="en-US" sz="1100"/>
          </a:p>
        </p:txBody>
      </p:sp>
      <p:sp>
        <p:nvSpPr>
          <p:cNvPr id="43" name="AutoShape 10"/>
          <p:cNvSpPr/>
          <p:nvPr/>
        </p:nvSpPr>
        <p:spPr>
          <a:xfrm>
            <a:off x="4635500" y="2345055"/>
            <a:ext cx="2921000" cy="22269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⚙️ 云函数 (核心流程)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构建“录音上传→语音调用→消息通知”全链路自动化流程，确保业务高效流转。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💾 云存储与数据库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安全存储用户录音、结构化就诊记录与个人信息，兼顾数据可追溯性与隐私安全。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4" name="AutoShape 11"/>
          <p:cNvSpPr/>
          <p:nvPr/>
        </p:nvSpPr>
        <p:spPr>
          <a:xfrm>
            <a:off x="8128000" y="1651000"/>
            <a:ext cx="3302000" cy="3175000"/>
          </a:xfrm>
          <a:prstGeom prst="roundRect">
            <a:avLst>
              <a:gd name="adj" fmla="val 3200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14B8A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841500"/>
            <a:ext cx="304800" cy="304800"/>
          </a:xfrm>
          <a:prstGeom prst="rect">
            <a:avLst/>
          </a:prstGeom>
        </p:spPr>
      </p:pic>
      <p:sp>
        <p:nvSpPr>
          <p:cNvPr id="46" name="AutoShape 13"/>
          <p:cNvSpPr/>
          <p:nvPr/>
        </p:nvSpPr>
        <p:spPr>
          <a:xfrm>
            <a:off x="8763000" y="180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AI侧 · 外部能力</a:t>
            </a:r>
            <a:endParaRPr lang="en-US" sz="1100"/>
          </a:p>
        </p:txBody>
      </p:sp>
      <p:sp>
        <p:nvSpPr>
          <p:cNvPr id="47" name="AutoShape 14"/>
          <p:cNvSpPr/>
          <p:nvPr/>
        </p:nvSpPr>
        <p:spPr>
          <a:xfrm>
            <a:off x="8318500" y="2456815"/>
            <a:ext cx="2921000" cy="21151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🎙️ 讯飞语音识别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高精度语音转文字，针对医疗术语和各地方言深度优化，完美解决老人录入难题。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🧠 </a:t>
            </a:r>
            <a:r>
              <a:rPr lang="zh-CN" alt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腾讯混元大模型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利用大模型提炼能力，将语音转文字的原始内容加工为结构清晰、便于阅读的JSON就诊摘要。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8" name="AutoShape 15"/>
          <p:cNvSpPr/>
          <p:nvPr/>
        </p:nvSpPr>
        <p:spPr>
          <a:xfrm>
            <a:off x="762000" y="5080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9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334000"/>
            <a:ext cx="406400" cy="406400"/>
          </a:xfrm>
          <a:prstGeom prst="rect">
            <a:avLst/>
          </a:prstGeom>
        </p:spPr>
      </p:pic>
      <p:sp>
        <p:nvSpPr>
          <p:cNvPr id="50" name="AutoShape 17"/>
          <p:cNvSpPr/>
          <p:nvPr/>
        </p:nvSpPr>
        <p:spPr>
          <a:xfrm>
            <a:off x="1524000" y="52705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Serverless 免运维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依托微信云开发能力，省去服务器搭建与维护工作，集中精力打磨核心体验。</a:t>
            </a:r>
            <a:endParaRPr lang="en-US" sz="11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1" name="AutoShape 18"/>
          <p:cNvSpPr/>
          <p:nvPr/>
        </p:nvSpPr>
        <p:spPr>
          <a:xfrm>
            <a:off x="4445000" y="5080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2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500" y="5334000"/>
            <a:ext cx="406400" cy="406400"/>
          </a:xfrm>
          <a:prstGeom prst="rect">
            <a:avLst/>
          </a:prstGeom>
        </p:spPr>
      </p:pic>
      <p:sp>
        <p:nvSpPr>
          <p:cNvPr id="53" name="AutoShape 20"/>
          <p:cNvSpPr/>
          <p:nvPr/>
        </p:nvSpPr>
        <p:spPr>
          <a:xfrm>
            <a:off x="5207000" y="52705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工程化深度融入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拒绝技术堆砌，将前沿AI能力无缝转化为解决老人录入、信息结构化等核心痛点的实用功能。</a:t>
            </a:r>
            <a:endParaRPr lang="en-US" sz="11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4" name="AutoShape 21"/>
          <p:cNvSpPr/>
          <p:nvPr/>
        </p:nvSpPr>
        <p:spPr>
          <a:xfrm>
            <a:off x="8128000" y="5080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5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8500" y="5334000"/>
            <a:ext cx="406400" cy="406400"/>
          </a:xfrm>
          <a:prstGeom prst="rect">
            <a:avLst/>
          </a:prstGeom>
        </p:spPr>
      </p:pic>
      <p:sp>
        <p:nvSpPr>
          <p:cNvPr id="56" name="AutoShape 23"/>
          <p:cNvSpPr/>
          <p:nvPr/>
        </p:nvSpPr>
        <p:spPr>
          <a:xfrm>
            <a:off x="8890000" y="52705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三层体系稳定性保障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建立架构、边界、协作三层保障体系，全方位确保系统稳定可靠，提供流畅的用户体验。</a:t>
            </a:r>
            <a:endParaRPr lang="en-US" sz="11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altLang="zh-CN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"/>
          <p:cNvSpPr/>
          <p:nvPr/>
        </p:nvSpPr>
        <p:spPr>
          <a:xfrm>
            <a:off x="889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协同方式</a:t>
            </a:r>
            <a:endParaRPr lang="en-US" altLang="zh-CN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9000" y="1469390"/>
            <a:ext cx="2917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/>
              <a:t>AI</a:t>
            </a:r>
            <a:r>
              <a:rPr lang="zh-CN" altLang="en-US" sz="1800"/>
              <a:t>协同流程：</a:t>
            </a:r>
            <a:endParaRPr lang="zh-CN" alt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5340985" y="2513965"/>
            <a:ext cx="5749925" cy="247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端侧：极简交互、本地录音、离线缓存</a:t>
            </a:r>
            <a:endParaRPr lang="zh-CN" altLang="en-US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云侧：自动调度、安全存储、消息推送</a:t>
            </a:r>
            <a:endParaRPr lang="zh-CN" altLang="en-US" sz="24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/>
              <a:t>AI </a:t>
            </a:r>
            <a:r>
              <a:rPr lang="zh-CN" altLang="en-US" sz="2400"/>
              <a:t>侧：语音识别→大模型提炼→结构化输出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983740"/>
            <a:ext cx="4126865" cy="4200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6"/>
          <p:cNvSpPr/>
          <p:nvPr/>
        </p:nvSpPr>
        <p:spPr>
          <a:xfrm>
            <a:off x="712470" y="4492625"/>
            <a:ext cx="10717530" cy="1494790"/>
          </a:xfrm>
          <a:prstGeom prst="roundRect">
            <a:avLst>
              <a:gd name="adj" fmla="val 75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altLang="zh-CN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"/>
          <p:cNvSpPr/>
          <p:nvPr/>
        </p:nvSpPr>
        <p:spPr>
          <a:xfrm>
            <a:off x="889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数据隐私与安全承诺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" y="1382395"/>
            <a:ext cx="2751455" cy="467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语音技术流程如图</a:t>
            </a:r>
            <a:r>
              <a:rPr lang="zh-CN" altLang="en-US" sz="2000"/>
              <a:t>下：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889000" y="4491990"/>
            <a:ext cx="1039241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800"/>
              <a:t>医患对话是极度敏感数据。在技术框架里隐晦提到用“微信云开发的数据库权限控制 + 数据脱敏”，但最好专门有一页讲怎么打消老人子女对“录音泄露”的顾虑（比如“本地降噪后传输”、“仅留存转写文本”等）。</a:t>
            </a:r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889000" y="3916045"/>
            <a:ext cx="22383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ym typeface="+mn-ea"/>
              </a:rPr>
              <a:t>隐私合规风险：</a:t>
            </a:r>
            <a:endParaRPr lang="zh-CN" altLang="en-US" sz="2000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0" y="1958340"/>
            <a:ext cx="10146665" cy="15582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altLang="zh-CN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"/>
          <p:cNvSpPr/>
          <p:nvPr/>
        </p:nvSpPr>
        <p:spPr>
          <a:xfrm>
            <a:off x="889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技术框架的健硕性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9000" y="4212590"/>
            <a:ext cx="3547110" cy="2190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 b="1"/>
              <a:t>4.Serverless</a:t>
            </a:r>
            <a:r>
              <a:rPr lang="zh-CN" altLang="en-US" sz="1800" b="1"/>
              <a:t>免运维：</a:t>
            </a:r>
            <a:endParaRPr lang="zh-CN" altLang="en-US" sz="1800" b="1"/>
          </a:p>
          <a:p>
            <a:endParaRPr lang="en-US" altLang="zh-CN" sz="1800"/>
          </a:p>
          <a:p>
            <a:r>
              <a:rPr lang="zh-CN" altLang="en-US" sz="1800"/>
              <a:t>微信云开发自动扩缩容，无需管理服务器</a:t>
            </a:r>
            <a:endParaRPr lang="zh-CN" altLang="en-US" sz="1800"/>
          </a:p>
          <a:p>
            <a:endParaRPr lang="en-US" altLang="zh-CN" sz="1800"/>
          </a:p>
          <a:p>
            <a:r>
              <a:rPr lang="zh-CN" altLang="en-US" sz="1800"/>
              <a:t>云函数冷启动优化，首次调用 &lt; 500</a:t>
            </a:r>
            <a:r>
              <a:rPr lang="en-US" altLang="zh-CN" sz="1800"/>
              <a:t>ms</a:t>
            </a:r>
            <a:endParaRPr lang="en-US" altLang="zh-CN" sz="1800"/>
          </a:p>
        </p:txBody>
      </p:sp>
      <p:sp>
        <p:nvSpPr>
          <p:cNvPr id="8" name="文本框 7"/>
          <p:cNvSpPr txBox="1"/>
          <p:nvPr/>
        </p:nvSpPr>
        <p:spPr>
          <a:xfrm>
            <a:off x="889000" y="1774190"/>
            <a:ext cx="2479675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 b="1">
                <a:sym typeface="+mn-ea"/>
              </a:rPr>
              <a:t>1.</a:t>
            </a:r>
            <a:r>
              <a:rPr lang="zh-CN" altLang="en-US" sz="1800" b="1">
                <a:sym typeface="+mn-ea"/>
              </a:rPr>
              <a:t>异常处理机制：</a:t>
            </a:r>
            <a:endParaRPr lang="zh-CN" altLang="en-US" sz="1800" b="1"/>
          </a:p>
          <a:p>
            <a:endParaRPr lang="zh-CN" altLang="en-US" sz="1800" b="1"/>
          </a:p>
        </p:txBody>
      </p:sp>
      <p:pic>
        <p:nvPicPr>
          <p:cNvPr id="10" name="图片 9" descr="屏幕截图 2026-05-10 125557"/>
          <p:cNvPicPr>
            <a:picLocks noChangeAspect="1"/>
          </p:cNvPicPr>
          <p:nvPr/>
        </p:nvPicPr>
        <p:blipFill>
          <a:blip r:embed="rId1"/>
          <a:srcRect l="14977" t="19628" r="1100" b="34923"/>
          <a:stretch>
            <a:fillRect/>
          </a:stretch>
        </p:blipFill>
        <p:spPr>
          <a:xfrm>
            <a:off x="7085330" y="3695065"/>
            <a:ext cx="4530725" cy="198501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9000" y="2322830"/>
            <a:ext cx="5237480" cy="1601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sym typeface="+mn-ea"/>
              </a:rPr>
              <a:t>云函数超时重试（超时时间60秒）</a:t>
            </a:r>
            <a:endParaRPr lang="zh-CN" altLang="en-US" sz="1800"/>
          </a:p>
          <a:p>
            <a:endParaRPr lang="en-US" altLang="zh-CN" sz="1800"/>
          </a:p>
          <a:p>
            <a:r>
              <a:rPr lang="zh-CN" altLang="en-US" sz="1800">
                <a:sym typeface="+mn-ea"/>
              </a:rPr>
              <a:t>网络中断后本地缓存 + </a:t>
            </a:r>
            <a:r>
              <a:rPr lang="en-US" altLang="zh-CN" sz="1800">
                <a:sym typeface="+mn-ea"/>
              </a:rPr>
              <a:t>WiFi</a:t>
            </a:r>
            <a:r>
              <a:rPr lang="zh-CN" altLang="en-US" sz="1800">
                <a:sym typeface="+mn-ea"/>
              </a:rPr>
              <a:t>恢复自动上传</a:t>
            </a:r>
            <a:endParaRPr lang="zh-CN" altLang="en-US" sz="1800"/>
          </a:p>
          <a:p>
            <a:endParaRPr lang="en-US" altLang="zh-CN" sz="1800"/>
          </a:p>
          <a:p>
            <a:r>
              <a:rPr lang="zh-CN" altLang="en-US" sz="1800">
                <a:sym typeface="+mn-ea"/>
              </a:rPr>
              <a:t>腾讯</a:t>
            </a:r>
            <a:r>
              <a:rPr lang="zh-CN" altLang="en-US" sz="1800">
                <a:sym typeface="+mn-ea"/>
              </a:rPr>
              <a:t>混元返回格式异常时，兜底显示原始转写文本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951980" y="1774190"/>
            <a:ext cx="4664710" cy="1518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 b="1">
                <a:sym typeface="+mn-ea"/>
              </a:rPr>
              <a:t>2.</a:t>
            </a:r>
            <a:r>
              <a:rPr lang="zh-CN" altLang="en-US" sz="1800" b="1">
                <a:sym typeface="+mn-ea"/>
              </a:rPr>
              <a:t>数据库容错</a:t>
            </a:r>
            <a:r>
              <a:rPr lang="zh-CN" altLang="en-US" sz="1800">
                <a:sym typeface="+mn-ea"/>
              </a:rPr>
              <a:t>：</a:t>
            </a:r>
            <a:r>
              <a:rPr lang="en-US" altLang="zh-CN" sz="1800">
                <a:sym typeface="+mn-ea"/>
              </a:rPr>
              <a:t>NoSQL</a:t>
            </a:r>
            <a:r>
              <a:rPr lang="zh-CN" altLang="en-US" sz="1800">
                <a:sym typeface="+mn-ea"/>
              </a:rPr>
              <a:t>无模式设计，字段缺失不影响已有功能</a:t>
            </a:r>
            <a:endParaRPr lang="zh-CN" altLang="en-US" sz="1800"/>
          </a:p>
          <a:p>
            <a:endParaRPr lang="en-US" altLang="zh-CN" sz="1800"/>
          </a:p>
          <a:p>
            <a:r>
              <a:rPr lang="en-US" altLang="zh-CN" sz="1800" b="1">
                <a:sym typeface="+mn-ea"/>
              </a:rPr>
              <a:t>3.</a:t>
            </a:r>
            <a:r>
              <a:rPr lang="zh-CN" altLang="en-US" sz="1800" b="1">
                <a:sym typeface="+mn-ea"/>
              </a:rPr>
              <a:t>权限分级：</a:t>
            </a:r>
            <a:r>
              <a:rPr lang="zh-CN" altLang="en-US" sz="1800">
                <a:sym typeface="+mn-ea"/>
              </a:rPr>
              <a:t>联调期全开放，上线后切换自定义安全规则如图下：</a:t>
            </a:r>
            <a:endParaRPr lang="zh-CN" altLang="en-US" sz="1800"/>
          </a:p>
          <a:p>
            <a:endParaRPr lang="zh-CN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项目管理方式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2000" y="1609725"/>
            <a:ext cx="48717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github</a:t>
            </a:r>
            <a:r>
              <a:rPr lang="zh-CN" altLang="en-US"/>
              <a:t>链接：</a:t>
            </a:r>
            <a:r>
              <a:rPr lang="en-US" altLang="zh-CN"/>
              <a:t>https://github.com/yuxinLi2007/xiaoyiban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044575" y="2679700"/>
            <a:ext cx="10225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/>
              <a:t>main（</a:t>
            </a:r>
            <a:r>
              <a:rPr lang="zh-CN" altLang="en-US" sz="1800"/>
              <a:t>稳定版）+ </a:t>
            </a:r>
            <a:r>
              <a:rPr lang="en-US" altLang="zh-CN" sz="1800"/>
              <a:t>feature/zinv（</a:t>
            </a:r>
            <a:r>
              <a:rPr lang="zh-CN" altLang="en-US" sz="1800"/>
              <a:t>子女端）+ </a:t>
            </a:r>
            <a:r>
              <a:rPr lang="en-US" altLang="zh-CN" sz="1800"/>
              <a:t>feature/elderly-ui（</a:t>
            </a:r>
            <a:r>
              <a:rPr lang="zh-CN" altLang="en-US" sz="1800"/>
              <a:t>老人端）+ </a:t>
            </a:r>
            <a:r>
              <a:rPr lang="en-US" altLang="zh-CN" sz="1800"/>
              <a:t>integration-c（</a:t>
            </a:r>
            <a:r>
              <a:rPr lang="zh-CN" altLang="en-US" sz="1800"/>
              <a:t>联调分支）</a:t>
            </a:r>
            <a:endParaRPr lang="zh-CN" alt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762000" y="2223135"/>
            <a:ext cx="150876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ym typeface="+mn-ea"/>
              </a:rPr>
              <a:t>1.</a:t>
            </a:r>
            <a:r>
              <a:rPr lang="zh-CN" altLang="en-US" sz="2000">
                <a:sym typeface="+mn-ea"/>
              </a:rPr>
              <a:t>分支策略：</a:t>
            </a:r>
            <a:endParaRPr lang="zh-CN" altLang="en-US" sz="2000"/>
          </a:p>
          <a:p>
            <a:endParaRPr lang="zh-CN" altLang="en-US" sz="2000"/>
          </a:p>
        </p:txBody>
      </p:sp>
      <p:sp>
        <p:nvSpPr>
          <p:cNvPr id="6" name="文本框 5"/>
          <p:cNvSpPr txBox="1"/>
          <p:nvPr/>
        </p:nvSpPr>
        <p:spPr>
          <a:xfrm>
            <a:off x="762000" y="3322955"/>
            <a:ext cx="2145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2.</a:t>
            </a:r>
            <a:r>
              <a:rPr lang="zh-CN" altLang="en-US" sz="2000"/>
              <a:t>协作方式：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1044575" y="3811270"/>
            <a:ext cx="7912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/>
              <a:t>A</a:t>
            </a:r>
            <a:r>
              <a:rPr lang="zh-CN" altLang="en-US" sz="1800"/>
              <a:t>负责老人端前端，</a:t>
            </a:r>
            <a:r>
              <a:rPr lang="en-US" altLang="zh-CN" sz="1800"/>
              <a:t>B</a:t>
            </a:r>
            <a:r>
              <a:rPr lang="zh-CN" altLang="en-US" sz="1800"/>
              <a:t>负责子女端前端+后端，</a:t>
            </a:r>
            <a:r>
              <a:rPr lang="en-US" altLang="zh-CN" sz="1800"/>
              <a:t>C</a:t>
            </a:r>
            <a:r>
              <a:rPr lang="zh-CN" altLang="en-US" sz="1800"/>
              <a:t>负责全链路联调与测试</a:t>
            </a:r>
            <a:endParaRPr lang="zh-CN" altLang="en-US" sz="1800"/>
          </a:p>
        </p:txBody>
      </p:sp>
      <p:sp>
        <p:nvSpPr>
          <p:cNvPr id="8" name="文本框 7"/>
          <p:cNvSpPr txBox="1"/>
          <p:nvPr/>
        </p:nvSpPr>
        <p:spPr>
          <a:xfrm>
            <a:off x="762000" y="4453890"/>
            <a:ext cx="3672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3.</a:t>
            </a:r>
            <a:r>
              <a:rPr lang="zh-CN" altLang="en-US" sz="2000"/>
              <a:t>提交流程：</a:t>
            </a:r>
            <a:endParaRPr lang="zh-CN" altLang="en-US" sz="2000"/>
          </a:p>
        </p:txBody>
      </p:sp>
      <p:sp>
        <p:nvSpPr>
          <p:cNvPr id="9" name="文本框 8"/>
          <p:cNvSpPr txBox="1"/>
          <p:nvPr/>
        </p:nvSpPr>
        <p:spPr>
          <a:xfrm>
            <a:off x="1044575" y="5021580"/>
            <a:ext cx="5811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ym typeface="+mn-ea"/>
              </a:rPr>
              <a:t>每个人可多次</a:t>
            </a:r>
            <a:r>
              <a:rPr lang="en-US" altLang="zh-CN" sz="1800">
                <a:sym typeface="+mn-ea"/>
              </a:rPr>
              <a:t>commit，</a:t>
            </a:r>
            <a:r>
              <a:rPr lang="zh-CN" altLang="en-US" sz="1800">
                <a:sym typeface="+mn-ea"/>
              </a:rPr>
              <a:t>合并由联调负责人统一把控</a:t>
            </a:r>
            <a:endParaRPr lang="zh-CN" altLang="en-US" sz="1800"/>
          </a:p>
          <a:p>
            <a:endParaRPr lang="zh-CN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324866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5990" y="167132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已完成核心模块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2202815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333500" y="2152015"/>
            <a:ext cx="203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老人端应用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主页、一键录音、AI摘要展示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3091815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333500" y="3041015"/>
            <a:ext cx="203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全链路贯通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录音→上传→转写→AI摘要→微信推送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3980815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1333500" y="3930015"/>
            <a:ext cx="203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内测验证通过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流程跑通，功能符合预期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365500" y="2202815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3683000" y="2152015"/>
            <a:ext cx="203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子女端应用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报告接收、病史录入、历史记录查询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365500" y="3091815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3683000" y="3041015"/>
            <a:ext cx="203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云开发部署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数据库、云存储、云函数全部上线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365500" y="3980815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3683000" y="3930015"/>
            <a:ext cx="203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技术架构完善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模块化设计，可扩展性强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4953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143500"/>
            <a:ext cx="4699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📦 关键交付成果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651500"/>
            <a:ext cx="1397000" cy="635000"/>
          </a:xfrm>
          <a:prstGeom prst="roundRect">
            <a:avLst>
              <a:gd name="adj" fmla="val 16000"/>
            </a:avLst>
          </a:prstGeom>
          <a:solidFill>
            <a:srgbClr val="EB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740400"/>
            <a:ext cx="1397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可演示完整Demo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667000" y="5651500"/>
            <a:ext cx="1397000" cy="635000"/>
          </a:xfrm>
          <a:prstGeom prst="roundRect">
            <a:avLst>
              <a:gd name="adj" fmla="val 16000"/>
            </a:avLst>
          </a:prstGeom>
          <a:solidFill>
            <a:srgbClr val="EB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2667000" y="5740400"/>
            <a:ext cx="1397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接口文档与测试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18000" y="5651500"/>
            <a:ext cx="1397000" cy="635000"/>
          </a:xfrm>
          <a:prstGeom prst="roundRect">
            <a:avLst>
              <a:gd name="adj" fmla="val 16000"/>
            </a:avLst>
          </a:prstGeom>
          <a:solidFill>
            <a:srgbClr val="EB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4318000" y="5740400"/>
            <a:ext cx="1397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内测数据与清单</a:t>
            </a:r>
            <a:endParaRPr lang="en-US" sz="1100"/>
          </a:p>
        </p:txBody>
      </p:sp>
      <p:sp>
        <p:nvSpPr>
          <p:cNvPr id="33" name="文本框 32"/>
          <p:cNvSpPr txBox="1"/>
          <p:nvPr/>
        </p:nvSpPr>
        <p:spPr>
          <a:xfrm>
            <a:off x="6662420" y="937895"/>
            <a:ext cx="1711325" cy="422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老人端界面</a:t>
            </a:r>
            <a:endParaRPr lang="zh-CN" altLang="en-US" sz="2400"/>
          </a:p>
        </p:txBody>
      </p:sp>
      <p:pic>
        <p:nvPicPr>
          <p:cNvPr id="25" name="图片 24" descr="微信图片_20260510141551_57_2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395" y="1524000"/>
            <a:ext cx="2427605" cy="4932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62000" y="1205865"/>
            <a:ext cx="1711325" cy="422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老人端</a:t>
            </a:r>
            <a:r>
              <a:rPr lang="zh-CN" altLang="en-US" sz="2400"/>
              <a:t>界面</a:t>
            </a:r>
            <a:endParaRPr lang="zh-CN" altLang="en-US" sz="2400"/>
          </a:p>
        </p:txBody>
      </p:sp>
      <p:pic>
        <p:nvPicPr>
          <p:cNvPr id="26" name="图片 25" descr="微信图片_20260510141654_60_2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28775"/>
            <a:ext cx="2599055" cy="5028565"/>
          </a:xfrm>
          <a:prstGeom prst="rect">
            <a:avLst/>
          </a:prstGeom>
        </p:spPr>
      </p:pic>
      <p:pic>
        <p:nvPicPr>
          <p:cNvPr id="27" name="图片 26" descr="微信图片_20260510141715_61_2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935" y="1628775"/>
            <a:ext cx="2428875" cy="5028565"/>
          </a:xfrm>
          <a:prstGeom prst="rect">
            <a:avLst/>
          </a:prstGeom>
        </p:spPr>
      </p:pic>
      <p:pic>
        <p:nvPicPr>
          <p:cNvPr id="3" name="图片 2" descr="微信图片_20260510141633_59_2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695" y="1628140"/>
            <a:ext cx="2440305" cy="50279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87705" y="1111250"/>
            <a:ext cx="2496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子女端</a:t>
            </a:r>
            <a:endParaRPr lang="zh-CN" altLang="en-US" sz="2400"/>
          </a:p>
        </p:txBody>
      </p:sp>
      <p:pic>
        <p:nvPicPr>
          <p:cNvPr id="26" name="图片 25" descr="4a7f3955a878e6f94fcd4dd01724b861"/>
          <p:cNvPicPr>
            <a:picLocks noChangeAspect="1"/>
          </p:cNvPicPr>
          <p:nvPr/>
        </p:nvPicPr>
        <p:blipFill>
          <a:blip r:embed="rId1"/>
          <a:srcRect l="9967" t="4038" r="7931" b="11592"/>
          <a:stretch>
            <a:fillRect/>
          </a:stretch>
        </p:blipFill>
        <p:spPr>
          <a:xfrm>
            <a:off x="1751965" y="1686560"/>
            <a:ext cx="2336800" cy="4977765"/>
          </a:xfrm>
          <a:prstGeom prst="rect">
            <a:avLst/>
          </a:prstGeom>
        </p:spPr>
      </p:pic>
      <p:pic>
        <p:nvPicPr>
          <p:cNvPr id="30" name="图片 29" descr="微信图片_20260509191810_21_269"/>
          <p:cNvPicPr>
            <a:picLocks noChangeAspect="1"/>
          </p:cNvPicPr>
          <p:nvPr/>
        </p:nvPicPr>
        <p:blipFill>
          <a:blip r:embed="rId2"/>
          <a:srcRect l="10136" t="3130" r="7698" b="11333"/>
          <a:stretch>
            <a:fillRect/>
          </a:stretch>
        </p:blipFill>
        <p:spPr>
          <a:xfrm>
            <a:off x="4335145" y="1686560"/>
            <a:ext cx="2410460" cy="4978400"/>
          </a:xfrm>
          <a:prstGeom prst="rect">
            <a:avLst/>
          </a:prstGeom>
        </p:spPr>
      </p:pic>
      <p:pic>
        <p:nvPicPr>
          <p:cNvPr id="31" name="图片 30" descr="微信图片_20260509191811_22_269"/>
          <p:cNvPicPr>
            <a:picLocks noChangeAspect="1"/>
          </p:cNvPicPr>
          <p:nvPr/>
        </p:nvPicPr>
        <p:blipFill>
          <a:blip r:embed="rId3"/>
          <a:srcRect l="9261" t="3231" r="6889" b="8639"/>
          <a:stretch>
            <a:fillRect/>
          </a:stretch>
        </p:blipFill>
        <p:spPr>
          <a:xfrm>
            <a:off x="9412605" y="1685925"/>
            <a:ext cx="2526665" cy="4975225"/>
          </a:xfrm>
          <a:prstGeom prst="rect">
            <a:avLst/>
          </a:prstGeom>
        </p:spPr>
      </p:pic>
      <p:pic>
        <p:nvPicPr>
          <p:cNvPr id="32" name="图片 31" descr="微信图片_20260509191812_23_269"/>
          <p:cNvPicPr>
            <a:picLocks noChangeAspect="1"/>
          </p:cNvPicPr>
          <p:nvPr/>
        </p:nvPicPr>
        <p:blipFill>
          <a:blip r:embed="rId4"/>
          <a:srcRect l="8741" t="7324" r="5343" b="8213"/>
          <a:stretch>
            <a:fillRect/>
          </a:stretch>
        </p:blipFill>
        <p:spPr>
          <a:xfrm>
            <a:off x="6909435" y="1686560"/>
            <a:ext cx="2339340" cy="49745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5800" y="1190625"/>
            <a:ext cx="2219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测试：</a:t>
            </a:r>
            <a:endParaRPr lang="zh-CN" altLang="en-US" sz="2400"/>
          </a:p>
        </p:txBody>
      </p:sp>
      <p:pic>
        <p:nvPicPr>
          <p:cNvPr id="4" name="图片 3" descr="屏幕截图 2026-05-10 195008"/>
          <p:cNvPicPr>
            <a:picLocks noChangeAspect="1"/>
          </p:cNvPicPr>
          <p:nvPr/>
        </p:nvPicPr>
        <p:blipFill>
          <a:blip r:embed="rId1"/>
          <a:srcRect b="1955"/>
          <a:stretch>
            <a:fillRect/>
          </a:stretch>
        </p:blipFill>
        <p:spPr>
          <a:xfrm>
            <a:off x="5977255" y="1353185"/>
            <a:ext cx="2559685" cy="5295265"/>
          </a:xfrm>
          <a:prstGeom prst="rect">
            <a:avLst/>
          </a:prstGeom>
        </p:spPr>
      </p:pic>
      <p:pic>
        <p:nvPicPr>
          <p:cNvPr id="6" name="图片 5" descr="屏幕截图 2026-05-10 195019"/>
          <p:cNvPicPr>
            <a:picLocks noChangeAspect="1"/>
          </p:cNvPicPr>
          <p:nvPr/>
        </p:nvPicPr>
        <p:blipFill>
          <a:blip r:embed="rId2"/>
          <a:srcRect b="787"/>
          <a:stretch>
            <a:fillRect/>
          </a:stretch>
        </p:blipFill>
        <p:spPr>
          <a:xfrm>
            <a:off x="8888730" y="1352550"/>
            <a:ext cx="2647315" cy="5294630"/>
          </a:xfrm>
          <a:prstGeom prst="rect">
            <a:avLst/>
          </a:prstGeom>
        </p:spPr>
      </p:pic>
      <p:pic>
        <p:nvPicPr>
          <p:cNvPr id="7" name="图片 6" descr="屏幕截图 2026-05-10 193150"/>
          <p:cNvPicPr>
            <a:picLocks noChangeAspect="1"/>
          </p:cNvPicPr>
          <p:nvPr/>
        </p:nvPicPr>
        <p:blipFill>
          <a:blip r:embed="rId3"/>
          <a:srcRect t="1806" b="519"/>
          <a:stretch>
            <a:fillRect/>
          </a:stretch>
        </p:blipFill>
        <p:spPr>
          <a:xfrm>
            <a:off x="1798320" y="1352550"/>
            <a:ext cx="2658745" cy="52959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726055" y="5023485"/>
            <a:ext cx="859155" cy="57467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8" idx="3"/>
          </p:cNvCxnSpPr>
          <p:nvPr/>
        </p:nvCxnSpPr>
        <p:spPr>
          <a:xfrm flipV="1">
            <a:off x="3585210" y="4553585"/>
            <a:ext cx="2096135" cy="75755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预计效果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286000"/>
          </a:xfrm>
          <a:prstGeom prst="roundRect">
            <a:avLst>
              <a:gd name="adj" fmla="val 6666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52500" y="1587500"/>
            <a:ext cx="24765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4200" y="1778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79500" y="2413000"/>
            <a:ext cx="2222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操作极简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老人全程 ≤ 5 步，一键完成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556000" y="1587500"/>
            <a:ext cx="24765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683000" y="1714500"/>
            <a:ext cx="22225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 15秒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摘要生成</a:t>
            </a:r>
            <a:endParaRPr 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高效处理，即问即答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159500" y="1587500"/>
            <a:ext cx="24765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86500" y="1714500"/>
            <a:ext cx="22225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 95%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普通话转写准确</a:t>
            </a:r>
            <a:endParaRPr 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听得懂，辨得清语义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763000" y="1587500"/>
            <a:ext cx="24765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64700" y="1778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2413000"/>
            <a:ext cx="2222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体验流畅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全流程无崩溃、低延迟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254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292600"/>
            <a:ext cx="152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老人视角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5080000"/>
            <a:ext cx="2159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看得懂、记得住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就诊不用死记硬背病史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467100" y="4064000"/>
            <a:ext cx="254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21100" y="4318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229100" y="4292600"/>
            <a:ext cx="152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子女视角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657600" y="5080000"/>
            <a:ext cx="2159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父母健康实时知情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10B9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悬着的心终于放下了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72200" y="4064000"/>
            <a:ext cx="254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26200" y="4318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34200" y="4292600"/>
            <a:ext cx="152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医生视角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62700" y="5080000"/>
            <a:ext cx="2159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沟通更高效，减少无效问询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辅助诊疗判断更精准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890000" y="4064000"/>
            <a:ext cx="254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44000" y="43180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652000" y="4292600"/>
            <a:ext cx="152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家庭视角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080500" y="5080000"/>
            <a:ext cx="2159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沉淀家庭健康数据资产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历史记录长期可追溯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651000"/>
            <a:ext cx="1219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我的小医陪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让陪伴不受距离限制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44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5080000"/>
            <a:ext cx="1219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谢谢聆听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969000"/>
            <a:ext cx="1219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300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2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3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4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5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6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7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8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9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10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11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12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13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14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15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16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17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18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19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20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21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22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23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24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25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26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27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28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29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30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31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32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33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34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35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36.xml><?xml version="1.0" encoding="utf-8"?>
<p:tagLst xmlns:p="http://schemas.openxmlformats.org/presentationml/2006/main">
  <p:tag name="KSO_WM_DIAGRAM_VIRTUALLY_FRAME" val="{&quot;height&quot;:320,&quot;left&quot;:60,&quot;top&quot;:160,&quot;width&quot;:855}"/>
</p:tagLst>
</file>

<file path=ppt/tags/tag37.xml><?xml version="1.0" encoding="utf-8"?>
<p:tagLst xmlns:p="http://schemas.openxmlformats.org/presentationml/2006/main">
  <p:tag name="KSO_WM_DIAGRAM_VIRTUALLY_FRAME" val="{&quot;height&quot;:302.4,&quot;left&quot;:50.1,&quot;top&quot;:173.95,&quot;width&quot;:850.5000000000003}"/>
</p:tagLst>
</file>

<file path=ppt/tags/tag38.xml><?xml version="1.0" encoding="utf-8"?>
<p:tagLst xmlns:p="http://schemas.openxmlformats.org/presentationml/2006/main">
  <p:tag name="KSO_WM_DIAGRAM_VIRTUALLY_FRAME" val="{&quot;height&quot;:302.4,&quot;left&quot;:50.1,&quot;top&quot;:173.95,&quot;width&quot;:850.5000000000003}"/>
</p:tagLst>
</file>

<file path=ppt/tags/tag39.xml><?xml version="1.0" encoding="utf-8"?>
<p:tagLst xmlns:p="http://schemas.openxmlformats.org/presentationml/2006/main">
  <p:tag name="KSO_WM_DIAGRAM_VIRTUALLY_FRAME" val="{&quot;height&quot;:302.4,&quot;left&quot;:50.1,&quot;top&quot;:173.95,&quot;width&quot;:850.5000000000003}"/>
</p:tagLst>
</file>

<file path=ppt/tags/tag40.xml><?xml version="1.0" encoding="utf-8"?>
<p:tagLst xmlns:p="http://schemas.openxmlformats.org/presentationml/2006/main">
  <p:tag name="KSO_WM_DIAGRAM_VIRTUALLY_FRAME" val="{&quot;height&quot;:302.4,&quot;left&quot;:50.1,&quot;top&quot;:173.95,&quot;width&quot;:850.5000000000003}"/>
</p:tagLst>
</file>

<file path=ppt/tags/tag41.xml><?xml version="1.0" encoding="utf-8"?>
<p:tagLst xmlns:p="http://schemas.openxmlformats.org/presentationml/2006/main">
  <p:tag name="KSO_WM_DIAGRAM_VIRTUALLY_FRAME" val="{&quot;height&quot;:302.4,&quot;left&quot;:50.1,&quot;top&quot;:173.95,&quot;width&quot;:850.5000000000003}"/>
</p:tagLst>
</file>

<file path=ppt/tags/tag42.xml><?xml version="1.0" encoding="utf-8"?>
<p:tagLst xmlns:p="http://schemas.openxmlformats.org/presentationml/2006/main">
  <p:tag name="KSO_WM_DIAGRAM_VIRTUALLY_FRAME" val="{&quot;height&quot;:302.4,&quot;left&quot;:50.1,&quot;top&quot;:173.95,&quot;width&quot;:850.5000000000003}"/>
</p:tagLst>
</file>

<file path=ppt/tags/tag43.xml><?xml version="1.0" encoding="utf-8"?>
<p:tagLst xmlns:p="http://schemas.openxmlformats.org/presentationml/2006/main">
  <p:tag name="KSO_WM_DIAGRAM_VIRTUALLY_FRAME" val="{&quot;height&quot;:302.4,&quot;left&quot;:50.1,&quot;top&quot;:173.95,&quot;width&quot;:850.5000000000003}"/>
</p:tagLst>
</file>

<file path=ppt/tags/tag44.xml><?xml version="1.0" encoding="utf-8"?>
<p:tagLst xmlns:p="http://schemas.openxmlformats.org/presentationml/2006/main">
  <p:tag name="KSO_WM_DIAGRAM_VIRTUALLY_FRAME" val="{&quot;height&quot;:302.4,&quot;left&quot;:50.1,&quot;top&quot;:173.95,&quot;width&quot;:850.5000000000003}"/>
</p:tagLst>
</file>

<file path=ppt/tags/tag45.xml><?xml version="1.0" encoding="utf-8"?>
<p:tagLst xmlns:p="http://schemas.openxmlformats.org/presentationml/2006/main">
  <p:tag name="KSO_WM_DIAGRAM_VIRTUALLY_FRAME" val="{&quot;height&quot;:302.4,&quot;left&quot;:50.1,&quot;top&quot;:173.95,&quot;width&quot;:850.5000000000003}"/>
</p:tagLst>
</file>

<file path=ppt/tags/tag46.xml><?xml version="1.0" encoding="utf-8"?>
<p:tagLst xmlns:p="http://schemas.openxmlformats.org/presentationml/2006/main">
  <p:tag name="KSO_WM_DIAGRAM_VIRTUALLY_FRAME" val="{&quot;height&quot;:302.4,&quot;left&quot;:50.1,&quot;top&quot;:173.95,&quot;width&quot;:850.5000000000003}"/>
</p:tagLst>
</file>

<file path=ppt/tags/tag47.xml><?xml version="1.0" encoding="utf-8"?>
<p:tagLst xmlns:p="http://schemas.openxmlformats.org/presentationml/2006/main">
  <p:tag name="KSO_WM_DIAGRAM_VIRTUALLY_FRAME" val="{&quot;height&quot;:302.4,&quot;left&quot;:50.1,&quot;top&quot;:173.95,&quot;width&quot;:850.5000000000003}"/>
</p:tagLst>
</file>

<file path=ppt/tags/tag48.xml><?xml version="1.0" encoding="utf-8"?>
<p:tagLst xmlns:p="http://schemas.openxmlformats.org/presentationml/2006/main">
  <p:tag name="KSO_WM_DIAGRAM_VIRTUALLY_FRAME" val="{&quot;height&quot;:302.4,&quot;left&quot;:50.1,&quot;top&quot;:173.95,&quot;width&quot;:850.5000000000003}"/>
</p:tagLst>
</file>

<file path=ppt/tags/tag49.xml><?xml version="1.0" encoding="utf-8"?>
<p:tagLst xmlns:p="http://schemas.openxmlformats.org/presentationml/2006/main">
  <p:tag name="KSO_WM_DIAGRAM_VIRTUALLY_FRAME" val="{&quot;height&quot;:451.3000000000002,&quot;left&quot;:37.95448818897638,&quot;top&quot;:70.6,&quot;width&quot;:875.1955118110236}"/>
</p:tagLst>
</file>

<file path=ppt/tags/tag50.xml><?xml version="1.0" encoding="utf-8"?>
<p:tagLst xmlns:p="http://schemas.openxmlformats.org/presentationml/2006/main">
  <p:tag name="KSO_WM_DIAGRAM_VIRTUALLY_FRAME" val="{&quot;height&quot;:451.3000000000002,&quot;left&quot;:37.95448818897638,&quot;top&quot;:70.6,&quot;width&quot;:875.1955118110236}"/>
</p:tagLst>
</file>

<file path=ppt/tags/tag51.xml><?xml version="1.0" encoding="utf-8"?>
<p:tagLst xmlns:p="http://schemas.openxmlformats.org/presentationml/2006/main">
  <p:tag name="KSO_WM_DIAGRAM_VIRTUALLY_FRAME" val="{&quot;height&quot;:451.3000000000002,&quot;left&quot;:37.95448818897638,&quot;top&quot;:70.6,&quot;width&quot;:875.1955118110236}"/>
</p:tagLst>
</file>

<file path=ppt/tags/tag52.xml><?xml version="1.0" encoding="utf-8"?>
<p:tagLst xmlns:p="http://schemas.openxmlformats.org/presentationml/2006/main">
  <p:tag name="KSO_WM_DIAGRAM_VIRTUALLY_FRAME" val="{&quot;height&quot;:451.3000000000002,&quot;left&quot;:37.95448818897638,&quot;top&quot;:70.6,&quot;width&quot;:875.1955118110236}"/>
</p:tagLst>
</file>

<file path=ppt/tags/tag53.xml><?xml version="1.0" encoding="utf-8"?>
<p:tagLst xmlns:p="http://schemas.openxmlformats.org/presentationml/2006/main">
  <p:tag name="KSO_WM_DIAGRAM_VIRTUALLY_FRAME" val="{&quot;height&quot;:451.3000000000002,&quot;left&quot;:37.95448818897638,&quot;top&quot;:70.6,&quot;width&quot;:875.1955118110236}"/>
</p:tagLst>
</file>

<file path=ppt/tags/tag54.xml><?xml version="1.0" encoding="utf-8"?>
<p:tagLst xmlns:p="http://schemas.openxmlformats.org/presentationml/2006/main">
  <p:tag name="KSO_WM_DIAGRAM_VIRTUALLY_FRAME" val="{&quot;height&quot;:451.3000000000002,&quot;left&quot;:37.95448818897638,&quot;top&quot;:70.6,&quot;width&quot;:875.1955118110236}"/>
</p:tagLst>
</file>

<file path=ppt/tags/tag55.xml><?xml version="1.0" encoding="utf-8"?>
<p:tagLst xmlns:p="http://schemas.openxmlformats.org/presentationml/2006/main">
  <p:tag name="KSO_WM_DIAGRAM_VIRTUALLY_FRAME" val="{&quot;height&quot;:451.3000000000002,&quot;left&quot;:37.95448818897638,&quot;top&quot;:70.6,&quot;width&quot;:875.1955118110236}"/>
</p:tagLst>
</file>

<file path=ppt/tags/tag56.xml><?xml version="1.0" encoding="utf-8"?>
<p:tagLst xmlns:p="http://schemas.openxmlformats.org/presentationml/2006/main">
  <p:tag name="KSO_WM_DIAGRAM_VIRTUALLY_FRAME" val="{&quot;height&quot;:451.3000000000002,&quot;left&quot;:37.95448818897638,&quot;top&quot;:70.6,&quot;width&quot;:875.1955118110236}"/>
</p:tagLst>
</file>

<file path=ppt/tags/tag57.xml><?xml version="1.0" encoding="utf-8"?>
<p:tagLst xmlns:p="http://schemas.openxmlformats.org/presentationml/2006/main">
  <p:tag name="KSO_WM_DIAGRAM_VIRTUALLY_FRAME" val="{&quot;height&quot;:451.3000000000002,&quot;left&quot;:37.95448818897638,&quot;top&quot;:70.6,&quot;width&quot;:875.1955118110236}"/>
</p:tagLst>
</file>

<file path=ppt/tags/tag58.xml><?xml version="1.0" encoding="utf-8"?>
<p:tagLst xmlns:p="http://schemas.openxmlformats.org/presentationml/2006/main">
  <p:tag name="KSO_WM_DIAGRAM_VIRTUALLY_FRAME" val="{&quot;height&quot;:451.3000000000002,&quot;left&quot;:37.95448818897638,&quot;top&quot;:70.6,&quot;width&quot;:875.1955118110236}"/>
</p:tagLst>
</file>

<file path=ppt/tags/tag59.xml><?xml version="1.0" encoding="utf-8"?>
<p:tagLst xmlns:p="http://schemas.openxmlformats.org/presentationml/2006/main">
  <p:tag name="KSO_WM_DIAGRAM_VIRTUALLY_FRAME" val="{&quot;height&quot;:451.3000000000002,&quot;left&quot;:37.95448818897638,&quot;top&quot;:70.6,&quot;width&quot;:875.1955118110236}"/>
</p:tagLst>
</file>

<file path=ppt/tags/tag60.xml><?xml version="1.0" encoding="utf-8"?>
<p:tagLst xmlns:p="http://schemas.openxmlformats.org/presentationml/2006/main">
  <p:tag name="KSO_WM_DIAGRAM_VIRTUALLY_FRAME" val="{&quot;height&quot;:451.3000000000002,&quot;left&quot;:37.95448818897638,&quot;top&quot;:70.6,&quot;width&quot;:875.1955118110236}"/>
</p:tagLst>
</file>

<file path=ppt/tags/tag61.xml><?xml version="1.0" encoding="utf-8"?>
<p:tagLst xmlns:p="http://schemas.openxmlformats.org/presentationml/2006/main">
  <p:tag name="KSO_WM_DIAGRAM_VIRTUALLY_FRAME" val="{&quot;height&quot;:256.5999999999999,&quot;left&quot;:75.7,&quot;top&quot;:216.5,&quot;width&quot;:803.3000000000002}"/>
</p:tagLst>
</file>

<file path=ppt/tags/tag62.xml><?xml version="1.0" encoding="utf-8"?>
<p:tagLst xmlns:p="http://schemas.openxmlformats.org/presentationml/2006/main">
  <p:tag name="KSO_WM_DIAGRAM_VIRTUALLY_FRAME" val="{&quot;height&quot;:256.5999999999999,&quot;left&quot;:75.7,&quot;top&quot;:216.5,&quot;width&quot;:803.3000000000002}"/>
</p:tagLst>
</file>

<file path=ppt/tags/tag63.xml><?xml version="1.0" encoding="utf-8"?>
<p:tagLst xmlns:p="http://schemas.openxmlformats.org/presentationml/2006/main">
  <p:tag name="KSO_WM_DIAGRAM_VIRTUALLY_FRAME" val="{&quot;height&quot;:256.5999999999999,&quot;left&quot;:75.7,&quot;top&quot;:216.5,&quot;width&quot;:803.3000000000002}"/>
</p:tagLst>
</file>

<file path=ppt/tags/tag64.xml><?xml version="1.0" encoding="utf-8"?>
<p:tagLst xmlns:p="http://schemas.openxmlformats.org/presentationml/2006/main">
  <p:tag name="KSO_WM_DIAGRAM_VIRTUALLY_FRAME" val="{&quot;height&quot;:256.5999999999999,&quot;left&quot;:75.7,&quot;top&quot;:216.5,&quot;width&quot;:803.3000000000002}"/>
</p:tagLst>
</file>

<file path=ppt/tags/tag65.xml><?xml version="1.0" encoding="utf-8"?>
<p:tagLst xmlns:p="http://schemas.openxmlformats.org/presentationml/2006/main">
  <p:tag name="KSO_WM_DIAGRAM_VIRTUALLY_FRAME" val="{&quot;height&quot;:256.5999999999999,&quot;left&quot;:75.7,&quot;top&quot;:216.5,&quot;width&quot;:803.3000000000002}"/>
</p:tagLst>
</file>

<file path=ppt/tags/tag66.xml><?xml version="1.0" encoding="utf-8"?>
<p:tagLst xmlns:p="http://schemas.openxmlformats.org/presentationml/2006/main">
  <p:tag name="KSO_WM_DIAGRAM_VIRTUALLY_FRAME" val="{&quot;height&quot;:256.5999999999999,&quot;left&quot;:75.7,&quot;top&quot;:216.5,&quot;width&quot;:803.3000000000002}"/>
</p:tagLst>
</file>

<file path=ppt/tags/tag67.xml><?xml version="1.0" encoding="utf-8"?>
<p:tagLst xmlns:p="http://schemas.openxmlformats.org/presentationml/2006/main">
  <p:tag name="KSO_WM_DIAGRAM_VIRTUALLY_FRAME" val="{&quot;height&quot;:256.5999999999999,&quot;left&quot;:75.7,&quot;top&quot;:216.5,&quot;width&quot;:803.3000000000002}"/>
</p:tagLst>
</file>

<file path=ppt/tags/tag68.xml><?xml version="1.0" encoding="utf-8"?>
<p:tagLst xmlns:p="http://schemas.openxmlformats.org/presentationml/2006/main">
  <p:tag name="KSO_WM_DIAGRAM_VIRTUALLY_FRAME" val="{&quot;height&quot;:256.5999999999999,&quot;left&quot;:75.7,&quot;top&quot;:216.5,&quot;width&quot;:803.3000000000002}"/>
</p:tagLst>
</file>

<file path=ppt/tags/tag69.xml><?xml version="1.0" encoding="utf-8"?>
<p:tagLst xmlns:p="http://schemas.openxmlformats.org/presentationml/2006/main">
  <p:tag name="KSO_WM_DIAGRAM_VIRTUALLY_FRAME" val="{&quot;height&quot;:256.5999999999999,&quot;left&quot;:75.7,&quot;top&quot;:216.5,&quot;width&quot;:803.3000000000002}"/>
</p:tagLst>
</file>

<file path=ppt/tags/tag70.xml><?xml version="1.0" encoding="utf-8"?>
<p:tagLst xmlns:p="http://schemas.openxmlformats.org/presentationml/2006/main">
  <p:tag name="KSO_WM_DIAGRAM_VIRTUALLY_FRAME" val="{&quot;height&quot;:256.5999999999999,&quot;left&quot;:75.7,&quot;top&quot;:216.5,&quot;width&quot;:803.3000000000002}"/>
</p:tagLst>
</file>

<file path=ppt/tags/tag71.xml><?xml version="1.0" encoding="utf-8"?>
<p:tagLst xmlns:p="http://schemas.openxmlformats.org/presentationml/2006/main">
  <p:tag name="KSO_WM_DIAGRAM_VIRTUALLY_FRAME" val="{&quot;height&quot;:256.5999999999999,&quot;left&quot;:75.7,&quot;top&quot;:216.5,&quot;width&quot;:803.3000000000002}"/>
</p:tagLst>
</file>

<file path=ppt/tags/tag72.xml><?xml version="1.0" encoding="utf-8"?>
<p:tagLst xmlns:p="http://schemas.openxmlformats.org/presentationml/2006/main">
  <p:tag name="KSO_WM_DIAGRAM_VIRTUALLY_FRAME" val="{&quot;height&quot;:256.5999999999999,&quot;left&quot;:75.7,&quot;top&quot;:216.5,&quot;width&quot;:803.3000000000002}"/>
</p:tagLst>
</file>

<file path=ppt/tags/tag73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74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75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76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77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78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2874</Words>
  <Application>WPS 演示</Application>
  <PresentationFormat/>
  <Paragraphs>305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宋体</vt:lpstr>
      <vt:lpstr>Wingdings</vt:lpstr>
      <vt:lpstr>Arial</vt:lpstr>
      <vt:lpstr>Noto Sans SC</vt:lpstr>
      <vt:lpstr>Songti SC</vt:lpstr>
      <vt:lpstr>Segoe Print</vt:lpstr>
      <vt:lpstr>Wingdings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5_默认主题</vt:lpstr>
      <vt:lpstr>6_默认主题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日尧王册</cp:lastModifiedBy>
  <cp:revision>24</cp:revision>
  <dcterms:created xsi:type="dcterms:W3CDTF">2026-05-08T16:32:00Z</dcterms:created>
  <dcterms:modified xsi:type="dcterms:W3CDTF">2026-05-10T12:43:38Z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28ACB16BEE0E4DAC9AA626B5E1F50F2C_12</vt:lpwstr>
  </property>
</Properties>
</file>